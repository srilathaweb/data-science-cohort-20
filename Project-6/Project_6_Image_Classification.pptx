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kC0l9/yZkxoDi/GY/s9ZU+Cj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82544da9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82544da9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e82544da94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">
  <p:cSld name="DARK">
    <p:bg>
      <p:bgPr>
        <a:solidFill>
          <a:srgbClr val="081225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high_resolution_modern_tech_themed_digita.png" id="17" name="Google Shape;17;p1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3703320" y="11430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3D6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53D6FF"/>
                </a:solidFill>
                <a:latin typeface="Arial"/>
                <a:ea typeface="Arial"/>
                <a:cs typeface="Arial"/>
                <a:sym typeface="Arial"/>
              </a:rPr>
              <a:t>Project 6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43200" y="1691640"/>
            <a:ext cx="6675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Image Classification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with Deep Learning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468880" y="32461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Cats vs Dogs CNN model - data loading, training, prediction, and troubleshooting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703320" y="3886200"/>
            <a:ext cx="2286000" cy="320040"/>
          </a:xfrm>
          <a:prstGeom prst="roundRect">
            <a:avLst>
              <a:gd fmla="val 22857" name="adj"/>
            </a:avLst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794760" y="3968496"/>
            <a:ext cx="21031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Convolutional Neural Network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217920" y="3886200"/>
            <a:ext cx="1645920" cy="320040"/>
          </a:xfrm>
          <a:prstGeom prst="roundRect">
            <a:avLst>
              <a:gd fmla="val 22857" name="adj"/>
            </a:avLst>
          </a:prstGeom>
          <a:solidFill>
            <a:srgbClr val="B25CFF">
              <a:alpha val="87843"/>
            </a:srgbClr>
          </a:solidFill>
          <a:ln cap="flat" cmpd="sng" w="12700">
            <a:solidFill>
              <a:srgbClr val="B2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309360" y="3968496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Pickle Image Data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01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Project Goal &amp; Dataset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Classify a new unseen image as cat or dog using a CNN.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141732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set X.pickle contains image pixel arrays.</a:t>
            </a:r>
            <a:b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Target set y.pickle contains binary labels: 0 or 1.</a:t>
            </a:r>
            <a:b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dog.jpg is the new test image used for prediction.</a:t>
            </a:r>
            <a:b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Images are not CSV data - they are multi-dimensional arrays.</a:t>
            </a:r>
            <a:b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715000" y="1143000"/>
            <a:ext cx="5394960" cy="4343400"/>
          </a:xfrm>
          <a:prstGeom prst="roundRect">
            <a:avLst>
              <a:gd fmla="val 1684" name="adj"/>
            </a:avLst>
          </a:prstGeom>
          <a:solidFill>
            <a:srgbClr val="101A31"/>
          </a:solidFill>
          <a:ln cap="flat" cmpd="sng" w="12700">
            <a:solidFill>
              <a:srgbClr val="29405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080760" y="144475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files used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144768" y="1965960"/>
            <a:ext cx="1417320" cy="411480"/>
          </a:xfrm>
          <a:prstGeom prst="roundRect">
            <a:avLst>
              <a:gd fmla="val 17778" name="adj"/>
            </a:avLst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6272784" y="2084832"/>
            <a:ext cx="1143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X.pickle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818120" y="20574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Image features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144768" y="2788920"/>
            <a:ext cx="1417320" cy="411480"/>
          </a:xfrm>
          <a:prstGeom prst="roundRect">
            <a:avLst>
              <a:gd fmla="val 17778" name="adj"/>
            </a:avLst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6272784" y="2907792"/>
            <a:ext cx="1143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y.pickle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818120" y="288036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Target labels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144768" y="3611880"/>
            <a:ext cx="1417320" cy="411480"/>
          </a:xfrm>
          <a:prstGeom prst="roundRect">
            <a:avLst>
              <a:gd fmla="val 17778" name="adj"/>
            </a:avLst>
          </a:prstGeom>
          <a:solidFill>
            <a:srgbClr val="B25CFF">
              <a:alpha val="87843"/>
            </a:srgbClr>
          </a:solidFill>
          <a:ln cap="flat" cmpd="sng" w="12700">
            <a:solidFill>
              <a:srgbClr val="B25C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72784" y="3730752"/>
            <a:ext cx="1143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dog.jpg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818120" y="370332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Test image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dog_display.jpg" id="48" name="Google Shape;48;p2"/>
          <p:cNvPicPr preferRelativeResize="0"/>
          <p:nvPr/>
        </p:nvPicPr>
        <p:blipFill rotWithShape="1">
          <a:blip r:embed="rId3">
            <a:alphaModFix/>
          </a:blip>
          <a:srcRect b="28873" l="0" r="0" t="28873"/>
          <a:stretch/>
        </p:blipFill>
        <p:spPr>
          <a:xfrm>
            <a:off x="8823960" y="4160520"/>
            <a:ext cx="18288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/>
          <p:nvPr/>
        </p:nvSpPr>
        <p:spPr>
          <a:xfrm>
            <a:off x="6080760" y="51663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New unseen image for final prediction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Deep Learning Workflow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The model learns image patterns, then predicts a new dog/cat image.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1828800" y="2743200"/>
            <a:ext cx="960120" cy="0"/>
          </a:xfrm>
          <a:prstGeom prst="straightConnector1">
            <a:avLst/>
          </a:prstGeom>
          <a:noFill/>
          <a:ln cap="flat" cmpd="sng" w="12700">
            <a:solidFill>
              <a:srgbClr val="63829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" name="Google Shape;62;p3"/>
          <p:cNvCxnSpPr/>
          <p:nvPr/>
        </p:nvCxnSpPr>
        <p:spPr>
          <a:xfrm>
            <a:off x="3931920" y="2743200"/>
            <a:ext cx="960120" cy="0"/>
          </a:xfrm>
          <a:prstGeom prst="straightConnector1">
            <a:avLst/>
          </a:prstGeom>
          <a:noFill/>
          <a:ln cap="flat" cmpd="sng" w="12700">
            <a:solidFill>
              <a:srgbClr val="63829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3" name="Google Shape;63;p3"/>
          <p:cNvCxnSpPr/>
          <p:nvPr/>
        </p:nvCxnSpPr>
        <p:spPr>
          <a:xfrm>
            <a:off x="6035040" y="2743200"/>
            <a:ext cx="960120" cy="0"/>
          </a:xfrm>
          <a:prstGeom prst="straightConnector1">
            <a:avLst/>
          </a:prstGeom>
          <a:noFill/>
          <a:ln cap="flat" cmpd="sng" w="12700">
            <a:solidFill>
              <a:srgbClr val="63829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" name="Google Shape;64;p3"/>
          <p:cNvCxnSpPr/>
          <p:nvPr/>
        </p:nvCxnSpPr>
        <p:spPr>
          <a:xfrm>
            <a:off x="8138160" y="2743200"/>
            <a:ext cx="960120" cy="0"/>
          </a:xfrm>
          <a:prstGeom prst="straightConnector1">
            <a:avLst/>
          </a:prstGeom>
          <a:noFill/>
          <a:ln cap="flat" cmpd="sng" w="12700">
            <a:solidFill>
              <a:srgbClr val="63829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3"/>
          <p:cNvSpPr/>
          <p:nvPr/>
        </p:nvSpPr>
        <p:spPr>
          <a:xfrm>
            <a:off x="685800" y="1965960"/>
            <a:ext cx="1463040" cy="1234440"/>
          </a:xfrm>
          <a:prstGeom prst="roundRect">
            <a:avLst>
              <a:gd fmla="val 5926" name="adj"/>
            </a:avLst>
          </a:prstGeom>
          <a:solidFill>
            <a:srgbClr val="12243C"/>
          </a:solidFill>
          <a:ln cap="flat" cmpd="sng" w="12700">
            <a:solidFill>
              <a:srgbClr val="53D6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22960" y="2194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04672" y="2578608"/>
            <a:ext cx="1225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Pickle files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88920" y="1965960"/>
            <a:ext cx="1463040" cy="1234440"/>
          </a:xfrm>
          <a:prstGeom prst="roundRect">
            <a:avLst>
              <a:gd fmla="val 5926" name="adj"/>
            </a:avLst>
          </a:prstGeom>
          <a:solidFill>
            <a:srgbClr val="1B183E"/>
          </a:solidFill>
          <a:ln cap="flat" cmpd="sng" w="12700">
            <a:solidFill>
              <a:srgbClr val="B2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2926080" y="2194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2907792" y="2578608"/>
            <a:ext cx="1225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Normalize pixels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892040" y="1965960"/>
            <a:ext cx="1463040" cy="1234440"/>
          </a:xfrm>
          <a:prstGeom prst="roundRect">
            <a:avLst>
              <a:gd fmla="val 5926" name="adj"/>
            </a:avLst>
          </a:prstGeom>
          <a:solidFill>
            <a:srgbClr val="12243C"/>
          </a:solidFill>
          <a:ln cap="flat" cmpd="sng" w="12700">
            <a:solidFill>
              <a:srgbClr val="53D6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5029200" y="2194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10912" y="2578608"/>
            <a:ext cx="1225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CNN layers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995160" y="1965960"/>
            <a:ext cx="1463040" cy="1234440"/>
          </a:xfrm>
          <a:prstGeom prst="roundRect">
            <a:avLst>
              <a:gd fmla="val 5926" name="adj"/>
            </a:avLst>
          </a:prstGeom>
          <a:solidFill>
            <a:srgbClr val="1B183E"/>
          </a:solidFill>
          <a:ln cap="flat" cmpd="sng" w="12700">
            <a:solidFill>
              <a:srgbClr val="B25C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132320" y="2194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14032" y="2578608"/>
            <a:ext cx="1225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Fit model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9098280" y="1965960"/>
            <a:ext cx="1463040" cy="1234440"/>
          </a:xfrm>
          <a:prstGeom prst="roundRect">
            <a:avLst>
              <a:gd fmla="val 5926" name="adj"/>
            </a:avLst>
          </a:prstGeom>
          <a:solidFill>
            <a:srgbClr val="12243C"/>
          </a:solidFill>
          <a:ln cap="flat" cmpd="sng" w="12700">
            <a:solidFill>
              <a:srgbClr val="53D6FF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235440" y="2194560"/>
            <a:ext cx="1188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217152" y="2578608"/>
            <a:ext cx="1225296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New image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097280" y="397764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idea: CNN layers automatically learn edges, textures, shapes, and higher-level animal features.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Load &amp; Inspect Data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Pickle files restore the image arrays and labels.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4360" y="1143000"/>
            <a:ext cx="5394960" cy="4023360"/>
          </a:xfrm>
          <a:prstGeom prst="roundRect">
            <a:avLst>
              <a:gd fmla="val 1818" name="adj"/>
            </a:avLst>
          </a:prstGeom>
          <a:solidFill>
            <a:srgbClr val="0D1426"/>
          </a:solidFill>
          <a:ln cap="flat" cmpd="sng" w="12700">
            <a:solidFill>
              <a:srgbClr val="405A7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04088" y="1252728"/>
            <a:ext cx="5175504" cy="3803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2A2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>
              <a:rPr lang="en-US" sz="10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pickle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US" sz="10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3 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pickle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'X.pickle'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'rb'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pickle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'y.pickle'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'rb'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5 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 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6 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7 </a:t>
            </a:r>
            <a:r>
              <a:rPr lang="en-US" sz="10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'X shape:'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X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8 </a:t>
            </a:r>
            <a:r>
              <a:rPr lang="en-US" sz="10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'y length:'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len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lang="en-US" sz="10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400800" y="1234440"/>
            <a:ext cx="4846320" cy="1828800"/>
          </a:xfrm>
          <a:prstGeom prst="roundRect">
            <a:avLst>
              <a:gd fmla="val 4000" name="adj"/>
            </a:avLst>
          </a:prstGeom>
          <a:solidFill>
            <a:srgbClr val="0C2032"/>
          </a:solidFill>
          <a:ln cap="flat" cmpd="sng" w="12700">
            <a:solidFill>
              <a:srgbClr val="53D6FF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693408" y="15361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Sample notebook output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720840" y="2029968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E495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7BE495"/>
                </a:solidFill>
                <a:latin typeface="Consolas"/>
                <a:ea typeface="Consolas"/>
                <a:cs typeface="Consolas"/>
                <a:sym typeface="Consolas"/>
              </a:rPr>
              <a:t>X shape: (24946, 100, 100, 1)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E495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7BE495"/>
                </a:solidFill>
                <a:latin typeface="Consolas"/>
                <a:ea typeface="Consolas"/>
                <a:cs typeface="Consolas"/>
                <a:sym typeface="Consolas"/>
              </a:rPr>
              <a:t>y length: 24946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E495"/>
              </a:buClr>
              <a:buSzPts val="1400"/>
              <a:buFont typeface="Consolas"/>
              <a:buNone/>
            </a:pPr>
            <a:r>
              <a:rPr lang="en-US" sz="1400">
                <a:solidFill>
                  <a:srgbClr val="7BE495"/>
                </a:solidFill>
                <a:latin typeface="Consolas"/>
                <a:ea typeface="Consolas"/>
                <a:cs typeface="Consolas"/>
                <a:sym typeface="Consolas"/>
              </a:rPr>
              <a:t>Last dimension = 1 means grayscale image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dog_grayscale_100.png" id="97" name="Google Shape;97;p4"/>
          <p:cNvPicPr preferRelativeResize="0"/>
          <p:nvPr/>
        </p:nvPicPr>
        <p:blipFill rotWithShape="1">
          <a:blip r:embed="rId3">
            <a:alphaModFix/>
          </a:blip>
          <a:srcRect b="7000" l="0" r="0" t="7000"/>
          <a:stretch/>
        </p:blipFill>
        <p:spPr>
          <a:xfrm>
            <a:off x="7406640" y="3657600"/>
            <a:ext cx="2286000" cy="19659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6766560" y="571500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Preprocessed test image: 100 x 100 grayscale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04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Build the CNN Model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Use Input(shape=...) first to avoid the Keras input_shape warning.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02920" y="1078992"/>
            <a:ext cx="6355080" cy="5074920"/>
          </a:xfrm>
          <a:prstGeom prst="roundRect">
            <a:avLst>
              <a:gd fmla="val 1441" name="adj"/>
            </a:avLst>
          </a:prstGeom>
          <a:solidFill>
            <a:srgbClr val="0D1426"/>
          </a:solidFill>
          <a:ln cap="flat" cmpd="sng" w="12700">
            <a:solidFill>
              <a:srgbClr val="405A7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12648" y="1188720"/>
            <a:ext cx="6135624" cy="4855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2A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1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Sequential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2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Input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:]),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3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Conv2D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activation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'relu'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4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MaxPooling2D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pool_size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5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Conv2D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3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activation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'relu'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6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MaxPooling2D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pool_size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7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Flatten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8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Dense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64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activation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'relu'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9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Dropout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Dense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activation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'sigmoid'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11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7315200" y="1234440"/>
            <a:ext cx="4069080" cy="4343400"/>
          </a:xfrm>
          <a:prstGeom prst="roundRect">
            <a:avLst>
              <a:gd fmla="val 1798" name="adj"/>
            </a:avLst>
          </a:prstGeom>
          <a:solidFill>
            <a:srgbClr val="11172D"/>
          </a:solidFill>
          <a:ln cap="flat" cmpd="sng" w="12700">
            <a:solidFill>
              <a:srgbClr val="29405E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7635240" y="153619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Layer purpose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635240" y="2011680"/>
            <a:ext cx="32918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Conv2D detects visual patterns.</a:t>
            </a:r>
            <a:b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MaxPooling reduces image size.</a:t>
            </a:r>
            <a:b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Flatten converts features to vector.</a:t>
            </a:r>
            <a:b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Dense layer learns classification.</a:t>
            </a:r>
            <a:b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Sigmoid returns probability 0 to 1.</a:t>
            </a:r>
            <a:b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05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Train the Model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Normalize pixels and train with validation split.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02920" y="1143000"/>
            <a:ext cx="4114800" cy="4754880"/>
          </a:xfrm>
          <a:prstGeom prst="roundRect">
            <a:avLst>
              <a:gd fmla="val 1778" name="adj"/>
            </a:avLst>
          </a:prstGeom>
          <a:solidFill>
            <a:srgbClr val="0D1426"/>
          </a:solidFill>
          <a:ln cap="flat" cmpd="sng" w="12700">
            <a:solidFill>
              <a:srgbClr val="405A7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12648" y="1252728"/>
            <a:ext cx="3895344" cy="4535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2A2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1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X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X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255.0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2 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3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4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loss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'binary_crossentropy'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5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optimizer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Adam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(),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6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metrics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'accuracy'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7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8 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 9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history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model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fit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10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X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y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batch_size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11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epochs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12 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validation_split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0.2</a:t>
            </a:r>
            <a:br>
              <a:rPr lang="en-US" sz="1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0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13 </a:t>
            </a:r>
            <a:r>
              <a:rPr lang="en-US" sz="10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ccuracy_plot.png"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10588" r="10588" t="0"/>
          <a:stretch/>
        </p:blipFill>
        <p:spPr>
          <a:xfrm>
            <a:off x="4983480" y="1234440"/>
            <a:ext cx="3063240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loss_plot.png" id="129" name="Google Shape;129;p6"/>
          <p:cNvPicPr preferRelativeResize="0"/>
          <p:nvPr/>
        </p:nvPicPr>
        <p:blipFill rotWithShape="1">
          <a:blip r:embed="rId4">
            <a:alphaModFix/>
          </a:blip>
          <a:srcRect b="0" l="10588" r="10588" t="0"/>
          <a:stretch/>
        </p:blipFill>
        <p:spPr>
          <a:xfrm>
            <a:off x="8275320" y="1234440"/>
            <a:ext cx="306324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5212080" y="4160520"/>
            <a:ext cx="5897880" cy="1371600"/>
          </a:xfrm>
          <a:prstGeom prst="roundRect">
            <a:avLst>
              <a:gd fmla="val 5333" name="adj"/>
            </a:avLst>
          </a:prstGeom>
          <a:solidFill>
            <a:srgbClr val="10243A"/>
          </a:solidFill>
          <a:ln cap="flat" cmpd="sng" w="12700">
            <a:solidFill>
              <a:srgbClr val="7BE49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5486400" y="440740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to watch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0" y="4800600"/>
            <a:ext cx="5166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If validation accuracy is low, the model may classify the dog image incorrectly. More epochs, better data balance, or a stronger CNN can improve results.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6000" y="852175"/>
            <a:ext cx="3238192" cy="2951624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5" name="Google Shape;135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75325" y="567584"/>
            <a:ext cx="3063250" cy="3286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Prediction Troubleshooting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The model expected grayscale input, but the test image was loaded as RGB.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85800" y="1234440"/>
            <a:ext cx="5120640" cy="1508760"/>
          </a:xfrm>
          <a:prstGeom prst="roundRect">
            <a:avLst>
              <a:gd fmla="val 4848" name="adj"/>
            </a:avLst>
          </a:prstGeom>
          <a:solidFill>
            <a:srgbClr val="331323"/>
          </a:solidFill>
          <a:ln cap="flat" cmpd="sng" w="12700">
            <a:solidFill>
              <a:srgbClr val="FF6B6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960120" y="150876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Error observed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960120" y="19202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D1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D1D1"/>
                </a:solidFill>
                <a:latin typeface="Consolas"/>
                <a:ea typeface="Consolas"/>
                <a:cs typeface="Consolas"/>
                <a:sym typeface="Consolas"/>
              </a:rPr>
              <a:t>expected axis -1 to have value 1,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D1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FFD1D1"/>
                </a:solidFill>
                <a:latin typeface="Consolas"/>
                <a:ea typeface="Consolas"/>
                <a:cs typeface="Consolas"/>
                <a:sym typeface="Consolas"/>
              </a:rPr>
              <a:t>but received input shape (1, 100, 100, 3)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85800" y="3108960"/>
            <a:ext cx="5577840" cy="2514600"/>
          </a:xfrm>
          <a:prstGeom prst="roundRect">
            <a:avLst>
              <a:gd fmla="val 2909" name="adj"/>
            </a:avLst>
          </a:prstGeom>
          <a:solidFill>
            <a:srgbClr val="0D1426"/>
          </a:solidFill>
          <a:ln cap="flat" cmpd="sng" w="12700">
            <a:solidFill>
              <a:srgbClr val="405A7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795528" y="3218688"/>
            <a:ext cx="5358384" cy="2295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2A2"/>
              </a:buClr>
              <a:buSzPts val="800"/>
              <a:buFont typeface="Consolas"/>
              <a:buNone/>
            </a:pP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cv2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imread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'dog.jpg'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cv2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IMREAD_GRAYSCALE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cv2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resize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IMG_SIZE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IMG_SIZE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3 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test_img_normalized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test_img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255.0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test_img_reshaped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test_img_normalized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reshape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IMG_SIZE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IMG_SIZE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5 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6 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prediction 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model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predict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test_img_reshaped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80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7 </a:t>
            </a:r>
            <a:r>
              <a:rPr lang="en-US" sz="80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'Prediction value:'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prediction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 sz="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8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720840" y="1234440"/>
            <a:ext cx="4709160" cy="4389120"/>
          </a:xfrm>
          <a:prstGeom prst="roundRect">
            <a:avLst>
              <a:gd fmla="val 1667" name="adj"/>
            </a:avLst>
          </a:prstGeom>
          <a:solidFill>
            <a:srgbClr val="10243A"/>
          </a:solidFill>
          <a:ln cap="flat" cmpd="sng" w="12700">
            <a:solidFill>
              <a:srgbClr val="53D6F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086600" y="15544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114032" y="2057400"/>
            <a:ext cx="36118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 shape ends with 1, so model expects one grayscale channel.</a:t>
            </a:r>
            <a:b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RGB images have 3 channels: red, green, blue.</a:t>
            </a:r>
            <a:b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Prediction input shape must match training input shape.</a:t>
            </a:r>
            <a:b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Wrong label mapping can also make dog look like cat.</a:t>
            </a:r>
            <a:br>
              <a:rPr lang="en-US" sz="142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07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22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 cap="flat" cmpd="sng" w="12700">
            <a:solidFill>
              <a:srgbClr val="08122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3D6FF">
              <a:alpha val="87843"/>
            </a:srgbClr>
          </a:solidFill>
          <a:ln cap="flat" cmpd="sng" w="12700">
            <a:solidFill>
              <a:srgbClr val="53D6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25CFF">
              <a:alpha val="90196"/>
            </a:srgbClr>
          </a:solidFill>
          <a:ln cap="flat" cmpd="sng" w="12700">
            <a:solidFill>
              <a:srgbClr val="B25C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02920" y="320040"/>
            <a:ext cx="7498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Final Prediction &amp; Label Mapping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530352" y="722376"/>
            <a:ext cx="7680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The raw probability must be interpreted using the dataset label order.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94360" y="1143000"/>
            <a:ext cx="5394960" cy="3474720"/>
          </a:xfrm>
          <a:prstGeom prst="roundRect">
            <a:avLst>
              <a:gd fmla="val 2105" name="adj"/>
            </a:avLst>
          </a:prstGeom>
          <a:solidFill>
            <a:srgbClr val="0D1426"/>
          </a:solidFill>
          <a:ln cap="flat" cmpd="sng" w="12700">
            <a:solidFill>
              <a:srgbClr val="405A7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704088" y="1252728"/>
            <a:ext cx="5175504" cy="3255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292A2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1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prediction 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model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predict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test_img_reshaped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)[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lang="en-US" sz="9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'Raw prediction value:'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prediction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3 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predicted_class 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1 </a:t>
            </a:r>
            <a:r>
              <a:rPr lang="en-US" sz="9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prediction 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0.5 </a:t>
            </a:r>
            <a:r>
              <a:rPr lang="en-US" sz="9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0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5 </a:t>
            </a:r>
            <a:r>
              <a:rPr lang="en-US" sz="950">
                <a:solidFill>
                  <a:srgbClr val="66D9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'Predicted class:'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predicted_class</a:t>
            </a:r>
            <a:r>
              <a:rPr lang="en-US" sz="95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6 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7 # Check training images to confirm:</a:t>
            </a:r>
            <a:b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950">
                <a:solidFill>
                  <a:srgbClr val="8292A2"/>
                </a:solidFill>
                <a:latin typeface="Consolas"/>
                <a:ea typeface="Consolas"/>
                <a:cs typeface="Consolas"/>
                <a:sym typeface="Consolas"/>
              </a:rPr>
              <a:t>8 # 0 = Dog / 1 = Cat OR 0 = Cat / 1 = Dog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dog_display.jpg" id="167" name="Google Shape;167;p8"/>
          <p:cNvPicPr preferRelativeResize="0"/>
          <p:nvPr/>
        </p:nvPicPr>
        <p:blipFill rotWithShape="1">
          <a:blip r:embed="rId3">
            <a:alphaModFix/>
          </a:blip>
          <a:srcRect b="9437" l="0" r="0" t="9437"/>
          <a:stretch/>
        </p:blipFill>
        <p:spPr>
          <a:xfrm>
            <a:off x="6492240" y="1188720"/>
            <a:ext cx="228600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9006840" y="1188720"/>
            <a:ext cx="2286000" cy="2194560"/>
          </a:xfrm>
          <a:prstGeom prst="roundRect">
            <a:avLst>
              <a:gd fmla="val 3333" name="adj"/>
            </a:avLst>
          </a:prstGeom>
          <a:solidFill>
            <a:srgbClr val="0E243C"/>
          </a:solidFill>
          <a:ln cap="flat" cmpd="sng" w="12700">
            <a:solidFill>
              <a:srgbClr val="FFB86C">
                <a:alpha val="7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281160" y="157276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Correct check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9235440" y="2057400"/>
            <a:ext cx="1828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Display training images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with labels to confirm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whether 0/1 means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Cat or Dog.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92240" y="3977640"/>
            <a:ext cx="4800600" cy="1417320"/>
          </a:xfrm>
          <a:prstGeom prst="roundRect">
            <a:avLst>
              <a:gd fmla="val 5161" name="adj"/>
            </a:avLst>
          </a:prstGeom>
          <a:solidFill>
            <a:srgbClr val="13203A"/>
          </a:solidFill>
          <a:ln cap="flat" cmpd="sng" w="12700">
            <a:solidFill>
              <a:srgbClr val="7BE495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812280" y="42519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 learning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812280" y="4645152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6D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B7C6D8"/>
                </a:solidFill>
                <a:latin typeface="Arial"/>
                <a:ea typeface="Arial"/>
                <a:cs typeface="Arial"/>
                <a:sym typeface="Arial"/>
              </a:rPr>
              <a:t>A CNN can classify cat/dog images, but prediction quality depends on matching input shape, good training accuracy, and correct label interpretation.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02920" y="6537960"/>
            <a:ext cx="52120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3AA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93AA"/>
                </a:solidFill>
                <a:latin typeface="Arial"/>
                <a:ea typeface="Arial"/>
                <a:cs typeface="Arial"/>
                <a:sym typeface="Arial"/>
              </a:rPr>
              <a:t>Project 6 - Image Classification with Deep Learning  |  08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girl is saying thank you to someone (Provided by Tenor)" id="180" name="Google Shape;180;g3e82544da94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650" y="1227700"/>
            <a:ext cx="4020175" cy="392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2026-06-02T02:18:35Z</dcterms:created>
  <dc:creator>OpenAI</dc:creator>
</cp:coreProperties>
</file>