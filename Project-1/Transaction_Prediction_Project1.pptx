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IBM Plex Sans Light"/>
      <p:regular r:id="rId27"/>
      <p:bold r:id="rId28"/>
      <p:italic r:id="rId29"/>
      <p:boldItalic r:id="rId30"/>
    </p:embeddedFont>
    <p:embeddedFont>
      <p:font typeface="IBM Plex Sans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IBMPlexSansLight-bold.fntdata"/><Relationship Id="rId27" Type="http://schemas.openxmlformats.org/officeDocument/2006/relationships/font" Target="fonts/IBMPlexSans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Sans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Medium-regular.fntdata"/><Relationship Id="rId30" Type="http://schemas.openxmlformats.org/officeDocument/2006/relationships/font" Target="fonts/IBMPlexSans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IBMPlexSansMedium-italic.fntdata"/><Relationship Id="rId10" Type="http://schemas.openxmlformats.org/officeDocument/2006/relationships/slide" Target="slides/slide4.xml"/><Relationship Id="rId32" Type="http://schemas.openxmlformats.org/officeDocument/2006/relationships/font" Target="fonts/IBMPlexSans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IBMPlexSans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2d8df67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d2d8df67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2d8df675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d2d8df675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2d8df675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d2d8df675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d2d8df675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d2d8df675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d2d8df675b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d2d8df675b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2d8df675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d2d8df675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2d8df675b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d2d8df675b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d2d8df675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d2d8df675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2d8df675b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d2d8df675b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d2d8df675b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d2d8df675b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d2d8df675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d2d8df675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2d8df675b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d2d8df675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88" name="Google Shape;88;p14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89" name="Google Shape;89;p14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90" name="Google Shape;90;p14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4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4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3" name="Google Shape;93;p14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4" name="Google Shape;94;p14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7" name="Google Shape;97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2" name="Google Shape;102;p15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1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6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6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3" name="Google Shape;113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16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6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16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24" name="Google Shape;124;p17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7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6" name="Google Shape;126;p17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7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7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7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8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6" name="Google Shape;146;p18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18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18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8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18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8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8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18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18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8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18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18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18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18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6" name="Google Shape;166;p18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18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8" name="Google Shape;168;p18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9" name="Google Shape;169;p18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0" name="Google Shape;170;p18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1" name="Google Shape;171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8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18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9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77" name="Google Shape;177;p19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78" name="Google Shape;178;p19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81" name="Google Shape;181;p19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19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" name="Google Shape;183;p19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84" name="Google Shape;184;p19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19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6" name="Google Shape;186;p19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19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19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19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19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95" name="Google Shape;195;p19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19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98" name="Google Shape;198;p19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19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19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1" name="Google Shape;201;p19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3" name="Google Shape;203;p19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19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19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0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210" name="Google Shape;210;p20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18" name="Google Shape;218;p20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9" name="Google Shape;219;p20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0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1" name="Google Shape;221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" name="Google Shape;222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27" name="Google Shape;227;p21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228" name="Google Shape;228;p21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29" name="Google Shape;229;p21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230" name="Google Shape;230;p21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" name="Google Shape;231;p21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21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6" name="Google Shape;236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2" name="Google Shape;242;p22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2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8" name="Google Shape;248;p22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9" name="Google Shape;249;p22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0" name="Google Shape;250;p22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1" name="Google Shape;251;p2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2" name="Google Shape;252;p2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2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2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1" name="Google Shape;261;p2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3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7" name="Google Shape;267;p24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68" name="Google Shape;268;p24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269" name="Google Shape;269;p24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70" name="Google Shape;270;p24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72" name="Google Shape;272;p24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24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74" name="Google Shape;274;p24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4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6" name="Google Shape;276;p24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7" name="Google Shape;277;p24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2" name="Google Shape;282;p2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24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7" name="Google Shape;287;p25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9" name="Google Shape;289;p25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0" name="Google Shape;290;p25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5" name="Google Shape;295;p25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7" name="Google Shape;297;p2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25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5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4" name="Google Shape;304;p26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2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0" name="Google Shape;310;p2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2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6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6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2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9" name="Google Shape;319;p2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27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27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28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28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28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28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8" name="Google Shape;328;p28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28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0" name="Google Shape;330;p28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2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2" name="Google Shape;332;p2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28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4" name="Google Shape;334;p28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28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28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28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29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2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2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29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29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30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4" name="Google Shape;354;p30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0" name="Google Shape;360;p3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30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2" name="Google Shape;362;p30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31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1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6" name="Google Shape;366;p31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7" name="Google Shape;367;p31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31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9" name="Google Shape;369;p31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3" name="Google Shape;373;p31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375" name="Google Shape;375;p31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76" name="Google Shape;376;p3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79" name="Google Shape;379;p3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0" name="Google Shape;380;p3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1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31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85" name="Google Shape;385;p32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6" name="Google Shape;386;p3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7" name="Google Shape;387;p32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88" name="Google Shape;388;p32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89" name="Google Shape;389;p32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90" name="Google Shape;390;p32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91" name="Google Shape;391;p32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92" name="Google Shape;392;p32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93" name="Google Shape;393;p32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94" name="Google Shape;394;p3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3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6" name="Google Shape;396;p3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99" name="Google Shape;399;p3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0" name="Google Shape;400;p3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3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3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403" name="Google Shape;403;p33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404" name="Google Shape;404;p33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405" name="Google Shape;405;p33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406" name="Google Shape;406;p33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407" name="Google Shape;407;p33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33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9" name="Google Shape;409;p33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12" name="Google Shape;412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7" name="Google Shape;41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0" name="Google Shape;420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1" name="Google Shape;421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26" name="Google Shape;426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31" name="Google Shape;431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2" name="Google Shape;432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37" name="Google Shape;437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9" name="Google Shape;449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0" name="Google Shape;450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3" name="Google Shape;453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4" name="Google Shape;454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5" name="Google Shape;455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6" name="Google Shape;456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0" name="Google Shape;460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1" name="Google Shape;461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4" name="Google Shape;464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9" name="Google Shape;469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0" name="Google Shape;470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71" name="Google Shape;471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4" name="Google Shape;474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7" name="Google Shape;477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3" name="Google Shape;48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4" name="Google Shape;484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5" name="Google Shape;485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8" name="Google Shape;488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1" name="Google Shape;491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3" name="Google Shape;49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4" name="Google Shape;494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6" name="Google Shape;496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7" name="Google Shape;507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5"/>
          <p:cNvSpPr txBox="1"/>
          <p:nvPr>
            <p:ph type="title"/>
          </p:nvPr>
        </p:nvSpPr>
        <p:spPr>
          <a:xfrm>
            <a:off x="436725" y="713750"/>
            <a:ext cx="7155300" cy="232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Project - Predicating Transactions</a:t>
            </a:r>
            <a:endParaRPr/>
          </a:p>
        </p:txBody>
      </p:sp>
      <p:sp>
        <p:nvSpPr>
          <p:cNvPr id="515" name="Google Shape;515;p55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3/26/26</a:t>
            </a:r>
            <a:endParaRPr/>
          </a:p>
        </p:txBody>
      </p:sp>
      <p:sp>
        <p:nvSpPr>
          <p:cNvPr id="516" name="Google Shape;516;p5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55"/>
          <p:cNvSpPr txBox="1"/>
          <p:nvPr/>
        </p:nvSpPr>
        <p:spPr>
          <a:xfrm>
            <a:off x="660400" y="3219450"/>
            <a:ext cx="457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Srilatha Alla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6"/>
          <p:cNvSpPr txBox="1"/>
          <p:nvPr>
            <p:ph type="title"/>
          </p:nvPr>
        </p:nvSpPr>
        <p:spPr>
          <a:xfrm>
            <a:off x="436725" y="647525"/>
            <a:ext cx="2718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23" name="Google Shape;523;p56"/>
          <p:cNvSpPr txBox="1"/>
          <p:nvPr>
            <p:ph idx="1" type="subTitle"/>
          </p:nvPr>
        </p:nvSpPr>
        <p:spPr>
          <a:xfrm>
            <a:off x="4422255" y="728275"/>
            <a:ext cx="32547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Problem </a:t>
            </a:r>
            <a:r>
              <a:rPr lang="en" sz="1586"/>
              <a:t>Definition, Solution</a:t>
            </a:r>
            <a:endParaRPr sz="1586"/>
          </a:p>
        </p:txBody>
      </p:sp>
      <p:sp>
        <p:nvSpPr>
          <p:cNvPr id="524" name="Google Shape;524;p56"/>
          <p:cNvSpPr txBox="1"/>
          <p:nvPr>
            <p:ph idx="12" type="sldNum"/>
          </p:nvPr>
        </p:nvSpPr>
        <p:spPr>
          <a:xfrm>
            <a:off x="7957668" y="228600"/>
            <a:ext cx="7092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5" name="Google Shape;525;p56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26" name="Google Shape;526;p56"/>
          <p:cNvSpPr txBox="1"/>
          <p:nvPr>
            <p:ph idx="4" type="subTitle"/>
          </p:nvPr>
        </p:nvSpPr>
        <p:spPr>
          <a:xfrm>
            <a:off x="4422255" y="1160926"/>
            <a:ext cx="32547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Data Collection</a:t>
            </a:r>
            <a:endParaRPr sz="1586"/>
          </a:p>
        </p:txBody>
      </p:sp>
      <p:sp>
        <p:nvSpPr>
          <p:cNvPr id="527" name="Google Shape;527;p56"/>
          <p:cNvSpPr txBox="1"/>
          <p:nvPr>
            <p:ph idx="5" type="subTitle"/>
          </p:nvPr>
        </p:nvSpPr>
        <p:spPr>
          <a:xfrm>
            <a:off x="4422255" y="1593576"/>
            <a:ext cx="32547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Data Cleaning</a:t>
            </a:r>
            <a:endParaRPr sz="1586"/>
          </a:p>
        </p:txBody>
      </p:sp>
      <p:sp>
        <p:nvSpPr>
          <p:cNvPr id="528" name="Google Shape;528;p56"/>
          <p:cNvSpPr txBox="1"/>
          <p:nvPr>
            <p:ph idx="6" type="subTitle"/>
          </p:nvPr>
        </p:nvSpPr>
        <p:spPr>
          <a:xfrm>
            <a:off x="4422255" y="2026227"/>
            <a:ext cx="32547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Exploratory Data Analysis (EDA)</a:t>
            </a:r>
            <a:endParaRPr sz="1586"/>
          </a:p>
        </p:txBody>
      </p:sp>
      <p:sp>
        <p:nvSpPr>
          <p:cNvPr id="529" name="Google Shape;529;p56"/>
          <p:cNvSpPr txBox="1"/>
          <p:nvPr>
            <p:ph idx="7" type="subTitle"/>
          </p:nvPr>
        </p:nvSpPr>
        <p:spPr>
          <a:xfrm>
            <a:off x="4422255" y="2458877"/>
            <a:ext cx="32547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Data Processing</a:t>
            </a:r>
            <a:endParaRPr sz="1586"/>
          </a:p>
        </p:txBody>
      </p:sp>
      <p:sp>
        <p:nvSpPr>
          <p:cNvPr id="530" name="Google Shape;530;p56"/>
          <p:cNvSpPr txBox="1"/>
          <p:nvPr>
            <p:ph idx="8" type="subTitle"/>
          </p:nvPr>
        </p:nvSpPr>
        <p:spPr>
          <a:xfrm>
            <a:off x="4431295" y="2891528"/>
            <a:ext cx="32547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Data Visualization</a:t>
            </a:r>
            <a:endParaRPr sz="1586"/>
          </a:p>
        </p:txBody>
      </p:sp>
      <p:sp>
        <p:nvSpPr>
          <p:cNvPr id="531" name="Google Shape;531;p56"/>
          <p:cNvSpPr txBox="1"/>
          <p:nvPr>
            <p:ph idx="9" type="subTitle"/>
          </p:nvPr>
        </p:nvSpPr>
        <p:spPr>
          <a:xfrm>
            <a:off x="3888800" y="728275"/>
            <a:ext cx="4491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1.</a:t>
            </a:r>
            <a:endParaRPr sz="1586"/>
          </a:p>
        </p:txBody>
      </p:sp>
      <p:sp>
        <p:nvSpPr>
          <p:cNvPr id="532" name="Google Shape;532;p56"/>
          <p:cNvSpPr txBox="1"/>
          <p:nvPr>
            <p:ph idx="13" type="subTitle"/>
          </p:nvPr>
        </p:nvSpPr>
        <p:spPr>
          <a:xfrm>
            <a:off x="3888800" y="1160926"/>
            <a:ext cx="4491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2.</a:t>
            </a:r>
            <a:endParaRPr sz="1586"/>
          </a:p>
        </p:txBody>
      </p:sp>
      <p:sp>
        <p:nvSpPr>
          <p:cNvPr id="533" name="Google Shape;533;p56"/>
          <p:cNvSpPr txBox="1"/>
          <p:nvPr>
            <p:ph idx="14" type="subTitle"/>
          </p:nvPr>
        </p:nvSpPr>
        <p:spPr>
          <a:xfrm>
            <a:off x="3888800" y="1593576"/>
            <a:ext cx="4491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3.</a:t>
            </a:r>
            <a:endParaRPr sz="1586"/>
          </a:p>
        </p:txBody>
      </p:sp>
      <p:sp>
        <p:nvSpPr>
          <p:cNvPr id="534" name="Google Shape;534;p56"/>
          <p:cNvSpPr txBox="1"/>
          <p:nvPr>
            <p:ph idx="15" type="subTitle"/>
          </p:nvPr>
        </p:nvSpPr>
        <p:spPr>
          <a:xfrm>
            <a:off x="3888800" y="2026227"/>
            <a:ext cx="4491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4.</a:t>
            </a:r>
            <a:endParaRPr sz="1586"/>
          </a:p>
        </p:txBody>
      </p:sp>
      <p:sp>
        <p:nvSpPr>
          <p:cNvPr id="535" name="Google Shape;535;p56"/>
          <p:cNvSpPr txBox="1"/>
          <p:nvPr>
            <p:ph idx="16" type="subTitle"/>
          </p:nvPr>
        </p:nvSpPr>
        <p:spPr>
          <a:xfrm>
            <a:off x="3888800" y="2458877"/>
            <a:ext cx="4491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5.</a:t>
            </a:r>
            <a:endParaRPr sz="1586"/>
          </a:p>
        </p:txBody>
      </p:sp>
      <p:sp>
        <p:nvSpPr>
          <p:cNvPr id="536" name="Google Shape;536;p56"/>
          <p:cNvSpPr txBox="1"/>
          <p:nvPr>
            <p:ph idx="17" type="subTitle"/>
          </p:nvPr>
        </p:nvSpPr>
        <p:spPr>
          <a:xfrm>
            <a:off x="3897840" y="2891528"/>
            <a:ext cx="4491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6.</a:t>
            </a:r>
            <a:endParaRPr sz="1586"/>
          </a:p>
        </p:txBody>
      </p:sp>
      <p:sp>
        <p:nvSpPr>
          <p:cNvPr id="537" name="Google Shape;537;p56"/>
          <p:cNvSpPr txBox="1"/>
          <p:nvPr>
            <p:ph idx="8" type="subTitle"/>
          </p:nvPr>
        </p:nvSpPr>
        <p:spPr>
          <a:xfrm>
            <a:off x="4475230" y="3324178"/>
            <a:ext cx="32547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Conclusion</a:t>
            </a:r>
            <a:r>
              <a:rPr lang="en" sz="1586"/>
              <a:t> and Q/A</a:t>
            </a:r>
            <a:endParaRPr sz="1586"/>
          </a:p>
        </p:txBody>
      </p:sp>
      <p:sp>
        <p:nvSpPr>
          <p:cNvPr id="538" name="Google Shape;538;p56"/>
          <p:cNvSpPr txBox="1"/>
          <p:nvPr>
            <p:ph idx="17" type="subTitle"/>
          </p:nvPr>
        </p:nvSpPr>
        <p:spPr>
          <a:xfrm>
            <a:off x="3941775" y="3324178"/>
            <a:ext cx="449100" cy="248700"/>
          </a:xfrm>
          <a:prstGeom prst="rect">
            <a:avLst/>
          </a:prstGeom>
        </p:spPr>
        <p:txBody>
          <a:bodyPr anchorCtr="0" anchor="t" bIns="80550" lIns="80550" spcFirstLastPara="1" rIns="80550" wrap="square" tIns="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6"/>
              <a:t>7.</a:t>
            </a:r>
            <a:endParaRPr sz="158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"/>
          <p:cNvSpPr txBox="1"/>
          <p:nvPr>
            <p:ph type="title"/>
          </p:nvPr>
        </p:nvSpPr>
        <p:spPr>
          <a:xfrm>
            <a:off x="436725" y="647525"/>
            <a:ext cx="4088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</a:t>
            </a:r>
            <a:r>
              <a:rPr lang="en"/>
              <a:t>Definition</a:t>
            </a:r>
            <a:endParaRPr/>
          </a:p>
        </p:txBody>
      </p:sp>
      <p:sp>
        <p:nvSpPr>
          <p:cNvPr id="544" name="Google Shape;544;p5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57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46" name="Google Shape;546;p57"/>
          <p:cNvSpPr txBox="1"/>
          <p:nvPr/>
        </p:nvSpPr>
        <p:spPr>
          <a:xfrm>
            <a:off x="390500" y="1675925"/>
            <a:ext cx="5233800" cy="22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Analyze customer transaction data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Goal: </a:t>
            </a:r>
            <a:r>
              <a:rPr b="1" lang="en" sz="1200">
                <a:solidFill>
                  <a:schemeClr val="lt1"/>
                </a:solidFill>
              </a:rPr>
              <a:t>predict if a customer will make a transaction (1 or 0)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This is a </a:t>
            </a:r>
            <a:r>
              <a:rPr b="1" lang="en" sz="1200">
                <a:solidFill>
                  <a:schemeClr val="lt1"/>
                </a:solidFill>
              </a:rPr>
              <a:t>Supervised </a:t>
            </a:r>
            <a:r>
              <a:rPr b="1" lang="en" sz="1200">
                <a:solidFill>
                  <a:schemeClr val="lt1"/>
                </a:solidFill>
              </a:rPr>
              <a:t>binary classification problem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Target (transaction 0/1)</a:t>
            </a:r>
            <a:br>
              <a:rPr b="1" lang="en" sz="1200">
                <a:solidFill>
                  <a:schemeClr val="lt1"/>
                </a:solidFill>
              </a:rPr>
            </a:b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Similar to real-world problems: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Customer satisfaction prediction</a:t>
            </a:r>
            <a:br>
              <a:rPr lang="en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Purchase prediction</a:t>
            </a:r>
            <a:br>
              <a:rPr lang="en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Loan repayment prediction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Use </a:t>
            </a:r>
            <a:r>
              <a:rPr b="1" lang="en" sz="1200">
                <a:solidFill>
                  <a:schemeClr val="lt1"/>
                </a:solidFill>
              </a:rPr>
              <a:t>Gaussian Naïve Bayes</a:t>
            </a:r>
            <a:r>
              <a:rPr lang="en" sz="1200">
                <a:solidFill>
                  <a:schemeClr val="lt1"/>
                </a:solidFill>
              </a:rPr>
              <a:t> for classification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47" name="Google Shape;54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550" y="2354350"/>
            <a:ext cx="5417999" cy="18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8"/>
          <p:cNvSpPr txBox="1"/>
          <p:nvPr>
            <p:ph type="title"/>
          </p:nvPr>
        </p:nvSpPr>
        <p:spPr>
          <a:xfrm>
            <a:off x="329700" y="376500"/>
            <a:ext cx="3685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553" name="Google Shape;553;p5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4" name="Google Shape;554;p58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55" name="Google Shape;555;p58"/>
          <p:cNvSpPr txBox="1"/>
          <p:nvPr/>
        </p:nvSpPr>
        <p:spPr>
          <a:xfrm>
            <a:off x="4188850" y="239725"/>
            <a:ext cx="500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Importing necessary python modules to analyze the data</a:t>
            </a:r>
            <a:endParaRPr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56" name="Google Shape;55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725" y="659000"/>
            <a:ext cx="2706050" cy="15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1296" y="1212775"/>
            <a:ext cx="4538775" cy="4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8"/>
          <p:cNvSpPr txBox="1"/>
          <p:nvPr/>
        </p:nvSpPr>
        <p:spPr>
          <a:xfrm>
            <a:off x="165250" y="1180500"/>
            <a:ext cx="15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 imported  from AWS S3</a:t>
            </a:r>
            <a:endParaRPr b="1"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59" name="Google Shape;559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7888" y="1844335"/>
            <a:ext cx="2693525" cy="1325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1213" y="3471750"/>
            <a:ext cx="2924175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9"/>
          <p:cNvSpPr txBox="1"/>
          <p:nvPr>
            <p:ph type="title"/>
          </p:nvPr>
        </p:nvSpPr>
        <p:spPr>
          <a:xfrm>
            <a:off x="436725" y="647525"/>
            <a:ext cx="3251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566" name="Google Shape;566;p59"/>
          <p:cNvSpPr txBox="1"/>
          <p:nvPr/>
        </p:nvSpPr>
        <p:spPr>
          <a:xfrm>
            <a:off x="935375" y="1502600"/>
            <a:ext cx="28575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Removing Unique Identifiers</a:t>
            </a:r>
            <a:endParaRPr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7" name="Google Shape;567;p59"/>
          <p:cNvSpPr txBox="1"/>
          <p:nvPr/>
        </p:nvSpPr>
        <p:spPr>
          <a:xfrm>
            <a:off x="935375" y="2479075"/>
            <a:ext cx="25365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Removing Null Values </a:t>
            </a:r>
            <a:endParaRPr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68" name="Google Shape;56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975" y="597900"/>
            <a:ext cx="5078017" cy="13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6025" y="2921931"/>
            <a:ext cx="2709824" cy="222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6025" y="2145500"/>
            <a:ext cx="2159174" cy="6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9"/>
          <p:cNvSpPr txBox="1"/>
          <p:nvPr/>
        </p:nvSpPr>
        <p:spPr>
          <a:xfrm>
            <a:off x="935375" y="3358350"/>
            <a:ext cx="25365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Removing Redundant data</a:t>
            </a:r>
            <a:endParaRPr b="1"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72" name="Google Shape;572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9353" y="2018782"/>
            <a:ext cx="2159175" cy="1105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0"/>
          <p:cNvSpPr txBox="1"/>
          <p:nvPr>
            <p:ph type="title"/>
          </p:nvPr>
        </p:nvSpPr>
        <p:spPr>
          <a:xfrm>
            <a:off x="436725" y="457200"/>
            <a:ext cx="41352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(EDA)</a:t>
            </a:r>
            <a:endParaRPr/>
          </a:p>
        </p:txBody>
      </p:sp>
      <p:sp>
        <p:nvSpPr>
          <p:cNvPr id="578" name="Google Shape;578;p6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60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id="580" name="Google Shape;58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4925" y="107100"/>
            <a:ext cx="2476601" cy="1694412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60"/>
          <p:cNvSpPr txBox="1"/>
          <p:nvPr/>
        </p:nvSpPr>
        <p:spPr>
          <a:xfrm>
            <a:off x="3450400" y="1086875"/>
            <a:ext cx="2964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82" name="Google Shape;58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2450" y="58250"/>
            <a:ext cx="3026999" cy="18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7550" y="1086875"/>
            <a:ext cx="2476600" cy="69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150" y="1846350"/>
            <a:ext cx="4312327" cy="321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1"/>
          <p:cNvSpPr txBox="1"/>
          <p:nvPr/>
        </p:nvSpPr>
        <p:spPr>
          <a:xfrm>
            <a:off x="357450" y="1994900"/>
            <a:ext cx="32001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Divide the dataset into 2 dataframes</a:t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AutoNum type="arabicPeriod"/>
            </a:pPr>
            <a:r>
              <a:rPr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Success Target = 1 </a:t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(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</a:rPr>
              <a:t>18040 rows × 51 columns)</a:t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AutoNum type="arabicPeriod"/>
            </a:pPr>
            <a:r>
              <a:rPr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Fail target = 0 </a:t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91" name="Google Shape;59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700" y="2315975"/>
            <a:ext cx="6155376" cy="122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3700" y="3715850"/>
            <a:ext cx="6155376" cy="10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1"/>
          <p:cNvSpPr txBox="1"/>
          <p:nvPr/>
        </p:nvSpPr>
        <p:spPr>
          <a:xfrm>
            <a:off x="457500" y="406030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</a:rPr>
              <a:t>(161960 rows × 51 columns)</a:t>
            </a:r>
            <a:endParaRPr/>
          </a:p>
        </p:txBody>
      </p:sp>
      <p:sp>
        <p:nvSpPr>
          <p:cNvPr id="594" name="Google Shape;594;p61"/>
          <p:cNvSpPr txBox="1"/>
          <p:nvPr/>
        </p:nvSpPr>
        <p:spPr>
          <a:xfrm>
            <a:off x="357450" y="792075"/>
            <a:ext cx="452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Processing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2"/>
          <p:cNvSpPr txBox="1"/>
          <p:nvPr>
            <p:ph idx="1" type="subTitle"/>
          </p:nvPr>
        </p:nvSpPr>
        <p:spPr>
          <a:xfrm>
            <a:off x="337650" y="1263125"/>
            <a:ext cx="3255600" cy="3082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Separated</a:t>
            </a:r>
            <a:r>
              <a:rPr lang="en">
                <a:solidFill>
                  <a:schemeClr val="dk1"/>
                </a:solidFill>
              </a:rPr>
              <a:t> the target and  </a:t>
            </a:r>
            <a:r>
              <a:rPr lang="en">
                <a:solidFill>
                  <a:schemeClr val="dk1"/>
                </a:solidFill>
              </a:rPr>
              <a:t>predictors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Create a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Split the training and testing 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Fit the data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Prediction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Check the accuracy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0" name="Google Shape;600;p62"/>
          <p:cNvSpPr txBox="1"/>
          <p:nvPr>
            <p:ph type="title"/>
          </p:nvPr>
        </p:nvSpPr>
        <p:spPr>
          <a:xfrm>
            <a:off x="163025" y="295775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601" name="Google Shape;601;p6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62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id="603" name="Google Shape;60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150" y="917550"/>
            <a:ext cx="4019649" cy="11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6038" y="849875"/>
            <a:ext cx="1174150" cy="146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3250" y="2668326"/>
            <a:ext cx="2875525" cy="20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3"/>
          <p:cNvSpPr txBox="1"/>
          <p:nvPr>
            <p:ph idx="1" type="subTitle"/>
          </p:nvPr>
        </p:nvSpPr>
        <p:spPr>
          <a:xfrm>
            <a:off x="1027950" y="1084050"/>
            <a:ext cx="3784800" cy="624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Confusion </a:t>
            </a:r>
            <a:r>
              <a:rPr b="1" lang="en">
                <a:solidFill>
                  <a:schemeClr val="dk1"/>
                </a:solidFill>
              </a:rPr>
              <a:t>Matrix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11" name="Google Shape;611;p63"/>
          <p:cNvSpPr txBox="1"/>
          <p:nvPr>
            <p:ph type="title"/>
          </p:nvPr>
        </p:nvSpPr>
        <p:spPr>
          <a:xfrm>
            <a:off x="108275" y="394575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612" name="Google Shape;612;p63"/>
          <p:cNvSpPr txBox="1"/>
          <p:nvPr>
            <p:ph idx="2" type="subTitle"/>
          </p:nvPr>
        </p:nvSpPr>
        <p:spPr>
          <a:xfrm>
            <a:off x="5510555" y="966750"/>
            <a:ext cx="2875500" cy="741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Classification</a:t>
            </a:r>
            <a:r>
              <a:rPr b="1" lang="en">
                <a:solidFill>
                  <a:schemeClr val="dk1"/>
                </a:solidFill>
              </a:rPr>
              <a:t> Matrix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13" name="Google Shape;613;p6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p63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id="615" name="Google Shape;61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75" y="1966984"/>
            <a:ext cx="3372950" cy="2553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0194" y="1840923"/>
            <a:ext cx="4614528" cy="146165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3"/>
          <p:cNvSpPr txBox="1"/>
          <p:nvPr/>
        </p:nvSpPr>
        <p:spPr>
          <a:xfrm>
            <a:off x="4350200" y="34741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90% of the data belongs to one class, the model becomes biased. This shows that accuracy alone is not a reliable metric.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4"/>
          <p:cNvSpPr txBox="1"/>
          <p:nvPr>
            <p:ph idx="1" type="subTitle"/>
          </p:nvPr>
        </p:nvSpPr>
        <p:spPr>
          <a:xfrm>
            <a:off x="294425" y="854150"/>
            <a:ext cx="3784800" cy="624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50/50 - </a:t>
            </a:r>
            <a:r>
              <a:rPr b="1" lang="en">
                <a:solidFill>
                  <a:schemeClr val="dk1"/>
                </a:solidFill>
              </a:rPr>
              <a:t>B</a:t>
            </a:r>
            <a:r>
              <a:rPr b="1" lang="en">
                <a:solidFill>
                  <a:schemeClr val="dk1"/>
                </a:solidFill>
              </a:rPr>
              <a:t>alanced the dataset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23" name="Google Shape;623;p64"/>
          <p:cNvSpPr txBox="1"/>
          <p:nvPr>
            <p:ph type="title"/>
          </p:nvPr>
        </p:nvSpPr>
        <p:spPr>
          <a:xfrm>
            <a:off x="97325" y="65850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624" name="Google Shape;624;p6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64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id="626" name="Google Shape;62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450" y="531924"/>
            <a:ext cx="3919951" cy="1114144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64"/>
          <p:cNvSpPr txBox="1"/>
          <p:nvPr/>
        </p:nvSpPr>
        <p:spPr>
          <a:xfrm>
            <a:off x="294425" y="1524450"/>
            <a:ext cx="326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Divide the balance set into </a:t>
            </a: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</a:t>
            </a: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and predicators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and Testing 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28" name="Google Shape;62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9225" y="1707600"/>
            <a:ext cx="2831473" cy="15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8950" y="3497225"/>
            <a:ext cx="4548575" cy="14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64"/>
          <p:cNvSpPr txBox="1"/>
          <p:nvPr/>
        </p:nvSpPr>
        <p:spPr>
          <a:xfrm>
            <a:off x="294425" y="3453075"/>
            <a:ext cx="23100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Classification</a:t>
            </a:r>
            <a:r>
              <a:rPr lang="en" sz="13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report - Much predicting successful transactions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65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637" name="Google Shape;637;p65"/>
          <p:cNvSpPr txBox="1"/>
          <p:nvPr/>
        </p:nvSpPr>
        <p:spPr>
          <a:xfrm>
            <a:off x="308750" y="332825"/>
            <a:ext cx="53538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Visualization</a:t>
            </a:r>
            <a:endParaRPr b="1"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38" name="Google Shape;63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1375" y="569250"/>
            <a:ext cx="4060700" cy="22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4475" y="2898700"/>
            <a:ext cx="4792432" cy="2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725" y="1032763"/>
            <a:ext cx="272415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65"/>
          <p:cNvSpPr txBox="1"/>
          <p:nvPr/>
        </p:nvSpPr>
        <p:spPr>
          <a:xfrm>
            <a:off x="243075" y="2160000"/>
            <a:ext cx="3350100" cy="2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Char char="●"/>
            </a:pP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Confusion matrix of original data and 50/50 data.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Char char="●"/>
            </a:pP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shows important of balancing our data set.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Char char="●"/>
            </a:pP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have to make sure that data is aligned.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Char char="●"/>
            </a:pP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balanced model gives a more reliable prediction, and Gaussian Naïve Bayes performs reasonably well for this problem.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6"/>
          <p:cNvSpPr txBox="1"/>
          <p:nvPr>
            <p:ph type="title"/>
          </p:nvPr>
        </p:nvSpPr>
        <p:spPr>
          <a:xfrm>
            <a:off x="436725" y="8452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Ask away!</a:t>
            </a:r>
            <a:endParaRPr/>
          </a:p>
        </p:txBody>
      </p:sp>
      <p:sp>
        <p:nvSpPr>
          <p:cNvPr id="647" name="Google Shape;647;p6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8" name="Google Shape;648;p66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descr="a cartoon girl is saying thank you to someone (Provided by Tenor)" id="649" name="Google Shape;64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013" y="2690125"/>
            <a:ext cx="2199575" cy="214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