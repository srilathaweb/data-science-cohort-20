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1675"/>
  <p:notesSz cx="6858000" cy="12191675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8sSD8etFFSVfhH1NIGRXe+mo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360ea66a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360ea66a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360ea66a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360ea66a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360ea66a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360ea66a2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360ea66a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360ea66a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360ea66a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gif"/><Relationship Id="rId4" Type="http://schemas.openxmlformats.org/officeDocument/2006/relationships/image" Target="../media/image20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1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321040" y="365760"/>
            <a:ext cx="3108960" cy="310896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38100">
            <a:solidFill>
              <a:srgbClr val="1DB954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732520" y="777240"/>
            <a:ext cx="2286000" cy="228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1DB954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594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rPr>
              <a:t>Project 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1234440"/>
            <a:ext cx="65836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Spotify Music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Popularity Prediction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743200"/>
            <a:ext cx="7232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Tree-based regression model • RMSE comparison </a:t>
            </a:r>
            <a:endParaRPr b="0" i="0" sz="1800" u="none" cap="none" strike="noStrike">
              <a:solidFill>
                <a:srgbClr val="D1D5D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• Feature importance • Predicted song scores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3794760"/>
            <a:ext cx="6903720" cy="1005840"/>
          </a:xfrm>
          <a:prstGeom prst="roundRect">
            <a:avLst>
              <a:gd fmla="val 7273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22960" y="3931920"/>
            <a:ext cx="6629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Goal: predict a numeric Popularity score from song/audio features available before a song becomes popular.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5800" y="61264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Presentation guide with sample code and result screenshots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spotify logo with three black lines on a white background . (Provided by Tenor)" id="25" name="Google Shape;2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3900" y="1131161"/>
            <a:ext cx="2286000" cy="2268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Problem Definition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611685" y="125728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are we predicting?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1828800"/>
            <a:ext cx="4709100" cy="22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Target variable: Popularity</a:t>
            </a:r>
            <a:b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 type: regression</a:t>
            </a:r>
            <a:br>
              <a:rPr lang="en-US"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Success metric: lower RMSE</a:t>
            </a:r>
            <a:br>
              <a:rPr lang="en-US"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 output: predicted Spotify popularity score</a:t>
            </a:r>
            <a:endParaRPr sz="16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11827"/>
                </a:solidFill>
              </a:rPr>
              <a:t>Data : </a:t>
            </a:r>
            <a:r>
              <a:rPr lang="en-US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https://ddc-datascience.s3.amazonaws.com/Projects/Project.4-Spotify/Data/Spotify.csv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11827"/>
              </a:solidFill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989320" y="1417320"/>
            <a:ext cx="5440680" cy="1965960"/>
          </a:xfrm>
          <a:prstGeom prst="roundRect">
            <a:avLst>
              <a:gd fmla="val 2326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099048" y="1508760"/>
            <a:ext cx="522122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target = "Popularity"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X = df_model.drop(columns=["Popularity"])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y = df_model["Popularity"]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Model learns: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song features  -&gt; popularity score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4251925"/>
            <a:ext cx="4968000" cy="1600200"/>
          </a:xfrm>
          <a:prstGeom prst="roundRect">
            <a:avLst>
              <a:gd fmla="val 9412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22955" y="4389134"/>
            <a:ext cx="4709100" cy="13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Using this model, I predicted how popular a song could be on Spotify based on available song characteristics.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85800" y="5486400"/>
            <a:ext cx="10744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150" y="1005850"/>
            <a:ext cx="5539849" cy="55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Solution Approach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685800" y="1417320"/>
            <a:ext cx="1783080" cy="731520"/>
          </a:xfrm>
          <a:prstGeom prst="roundRect">
            <a:avLst>
              <a:gd fmla="val 10000" name="adj"/>
            </a:avLst>
          </a:prstGeom>
          <a:solidFill>
            <a:srgbClr val="DDF7E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95528" y="15819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24712" y="159105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Load data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606040" y="1618488"/>
            <a:ext cx="301752" cy="301752"/>
          </a:xfrm>
          <a:prstGeom prst="chevron">
            <a:avLst>
              <a:gd fmla="val 50000" name="adj"/>
            </a:avLst>
          </a:prstGeom>
          <a:solidFill>
            <a:srgbClr val="1DB954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926080" y="1417320"/>
            <a:ext cx="178308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035808" y="15819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64992" y="159105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Clean data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846320" y="1618488"/>
            <a:ext cx="301752" cy="301752"/>
          </a:xfrm>
          <a:prstGeom prst="chevron">
            <a:avLst>
              <a:gd fmla="val 50000" name="adj"/>
            </a:avLst>
          </a:prstGeom>
          <a:solidFill>
            <a:srgbClr val="1DB954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166360" y="1417320"/>
            <a:ext cx="178308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276088" y="15819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605272" y="159105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Engineer features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086600" y="1618488"/>
            <a:ext cx="301752" cy="301752"/>
          </a:xfrm>
          <a:prstGeom prst="chevron">
            <a:avLst>
              <a:gd fmla="val 50000" name="adj"/>
            </a:avLst>
          </a:prstGeom>
          <a:solidFill>
            <a:srgbClr val="1DB954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406640" y="1417320"/>
            <a:ext cx="178308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516368" y="15819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845552" y="159105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 models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326880" y="1618488"/>
            <a:ext cx="301752" cy="301752"/>
          </a:xfrm>
          <a:prstGeom prst="chevron">
            <a:avLst>
              <a:gd fmla="val 50000" name="adj"/>
            </a:avLst>
          </a:prstGeom>
          <a:solidFill>
            <a:srgbClr val="1DB954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646920" y="1417320"/>
            <a:ext cx="178308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756648" y="15819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085832" y="159105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Compare RMSE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85800" y="2743200"/>
            <a:ext cx="5806440" cy="3383280"/>
          </a:xfrm>
          <a:prstGeom prst="roundRect">
            <a:avLst>
              <a:gd fmla="val 1351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85800" y="2834650"/>
            <a:ext cx="5696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models = {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"Decision Tree": DecisionTreeRegressor(max_depth=3),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"Random Forest": RandomForestRegressor(n_estimators=100, max_depth=10),</a:t>
            </a:r>
            <a:endParaRPr sz="950">
              <a:solidFill>
                <a:srgbClr val="E5E7E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“XGBoost”:xgb.XGBRegressor(objective ='reg:squarederror', verbosity=0, seed = 10)</a:t>
            </a:r>
            <a:endParaRPr sz="950">
              <a:solidFill>
                <a:srgbClr val="E5E7E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"Gradient Boosting": GradientBoostingRegressor(n_estimators=100, learning_rate=0.05, max_depth=3)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for name, model in models.items():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model.fit(X_train, y_train)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y_pred = model.predict(X_test)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rmse = np.sqrt(mean_squared_error(y_test, y_pred))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903720" y="2788920"/>
            <a:ext cx="4434840" cy="2011680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model_results_table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6872" y="3383026"/>
            <a:ext cx="4288536" cy="82346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6903720" y="4846320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Sample model comparison output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903720" y="5212080"/>
            <a:ext cx="4434840" cy="685800"/>
          </a:xfrm>
          <a:prstGeom prst="roundRect">
            <a:avLst>
              <a:gd fmla="val 10667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040880" y="5349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model with the lowest RMSE is selected as the best model for prediction and explanation.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Data Cleaning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685800" y="12344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 cleaning decisions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77240" y="1783080"/>
            <a:ext cx="4846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Removed comma formatting from numeric text values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Converted numeric-looking object columns to numbers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Dropped rows where numeric conversion failed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Kept only Genre and Chord as categorical predictors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Encoded Genre and Chord using label encoding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897880" y="1325880"/>
            <a:ext cx="5486400" cy="2788920"/>
          </a:xfrm>
          <a:prstGeom prst="roundRect">
            <a:avLst>
              <a:gd fmla="val 1639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007608" y="1417320"/>
            <a:ext cx="5266944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numeric_pattern = r"^-?\d+(\.\d+)?$"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for col in object_cols: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s = df_cleaned[col].astype(str).str.strip()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s_clean = s.str.replace(",", "", regex=False)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match_rate = s_clean[df_cleaned[col].notna()].str.match(numeric_pattern).mean()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if match_rate &gt;= 0.8: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df_cleaned[col] = pd.to_numeric(s_clean, errors="coerce")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897880" y="4343400"/>
            <a:ext cx="5486400" cy="1600200"/>
          </a:xfrm>
          <a:prstGeom prst="roundRect">
            <a:avLst>
              <a:gd fmla="val 2857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007608" y="4434840"/>
            <a:ext cx="5266944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Drop all categorical columns except Genre and Chord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categorical_to_keep = ["Genre", "Chord"]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Convert kept categories into numeric labels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for col in categorical_to_keep: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encoder = LabelEncoder()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df_cleaned[col] = encoder.fit_transform(df_cleaned[col].astype(str))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eople cleaning mobile phone from trash files (Provided by Getty Images)" id="93" name="Google Shape;9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4218900"/>
            <a:ext cx="3086848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EDA: Understanding Popularity and Chart Fields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685800" y="1234440"/>
            <a:ext cx="5669280" cy="3703320"/>
          </a:xfrm>
          <a:prstGeom prst="roundRect">
            <a:avLst>
              <a:gd fmla="val 1235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friend_cell21_1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2363294"/>
            <a:ext cx="5522976" cy="144561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685800" y="4983480"/>
            <a:ext cx="5669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Distribution screenshots from EDA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629400" y="1417320"/>
            <a:ext cx="4572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Popularity is the final target because it is already numeric and directly aligned to the project goal.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Streams and charting columns are useful for exploration, but should not be predictors for a new song.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EDA helps identify skew, outliers, and possible leakage variables.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629400" y="3931920"/>
            <a:ext cx="4572000" cy="822960"/>
          </a:xfrm>
          <a:prstGeom prst="roundRect">
            <a:avLst>
              <a:gd fmla="val 8889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766560" y="406908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Key idea: EDA is not only for charts; it also helps decide which variables should be allowed into the model.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629400" y="5074920"/>
            <a:ext cx="4572000" cy="1051560"/>
          </a:xfrm>
          <a:prstGeom prst="roundRect">
            <a:avLst>
              <a:gd fmla="val 4348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739128" y="5166360"/>
            <a:ext cx="43525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df_spotify.describe().transpose()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df_spotify.isna().sum()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df_spotify.dtypes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Explore candidate targets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["Popularity", "Streams", "Number of Times Charted"]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Feature Selection: Avoid Data Leakage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6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/>
          <p:nvPr/>
        </p:nvSpPr>
        <p:spPr>
          <a:xfrm>
            <a:off x="685800" y="12801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Columns removed from predictors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2960" y="1783080"/>
            <a:ext cx="4709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Highest Charting Position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Number of Times Charted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Streams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Week of Highest Charting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Weeks Charted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Song Name / Song ID / Artist for model input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989320" y="1325880"/>
            <a:ext cx="5349240" cy="2377440"/>
          </a:xfrm>
          <a:prstGeom prst="roundRect">
            <a:avLst>
              <a:gd fmla="val 1923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099048" y="1417320"/>
            <a:ext cx="512978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leakage_cols = [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"Highest Charting Position",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"Number of Times Charted",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"Streams",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"Week of Highest Charting",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"Weeks Charted"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df_model = df_model.drop(columns=leakage_cols, errors="ignore")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85800" y="4251960"/>
            <a:ext cx="10652760" cy="868680"/>
          </a:xfrm>
          <a:prstGeom prst="roundRect">
            <a:avLst>
              <a:gd fmla="val 8421" name="adj"/>
            </a:avLst>
          </a:prstGeom>
          <a:solidFill>
            <a:srgbClr val="FFF7ED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822960" y="4389120"/>
            <a:ext cx="10378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Why: these values are known after release/chart performance. Using them to predict a new song would make the model “cheat.”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85800" y="5532120"/>
            <a:ext cx="10652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Allowed predictors include audio features, Artist Followers, Genre, Chord, and simple release-date features.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763" y="1337300"/>
            <a:ext cx="6686351" cy="24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Model Training and RMSE Comparison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/>
          <p:nvPr/>
        </p:nvSpPr>
        <p:spPr>
          <a:xfrm>
            <a:off x="685800" y="1234440"/>
            <a:ext cx="5349240" cy="3749040"/>
          </a:xfrm>
          <a:prstGeom prst="roundRect">
            <a:avLst>
              <a:gd fmla="val 1220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cell54_1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413" y="1307592"/>
            <a:ext cx="4894014" cy="360273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685800" y="5029200"/>
            <a:ext cx="5349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RMSE comparison graph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0" y="1234440"/>
            <a:ext cx="4754880" cy="18288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model_results_table.png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3952" y="1706379"/>
            <a:ext cx="4608576" cy="88492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6400800" y="310896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RMSE table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92240" y="3520440"/>
            <a:ext cx="45720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RMSE measures how far predictions are from actual popularity values.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Lower RMSE means a better model.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Random Forest performed best in the sample results shown.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00800" y="5074920"/>
            <a:ext cx="4754880" cy="1051560"/>
          </a:xfrm>
          <a:prstGeom prst="roundRect">
            <a:avLst>
              <a:gd fmla="val 4348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510528" y="5166360"/>
            <a:ext cx="45354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rmse = np.sqrt(mean_squared_error(y_test, y_pred))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results.append({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"Model": model_name,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"RMSE": rmse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e360ea66a2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5" y="987875"/>
            <a:ext cx="11886875" cy="5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360ea66a2_0_1"/>
          <p:cNvSpPr txBox="1"/>
          <p:nvPr/>
        </p:nvSpPr>
        <p:spPr>
          <a:xfrm>
            <a:off x="386675" y="432175"/>
            <a:ext cx="48468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/>
              <a:t>Decision Tree </a:t>
            </a:r>
            <a:endParaRPr b="1"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Max_depth =3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Prediction Results: What Did the Model Predict?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8"/>
          <p:cNvSpPr/>
          <p:nvPr/>
        </p:nvSpPr>
        <p:spPr>
          <a:xfrm>
            <a:off x="685800" y="1280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actual prediction happens here: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85800" y="1737360"/>
            <a:ext cx="5257800" cy="2331720"/>
          </a:xfrm>
          <a:prstGeom prst="roundRect">
            <a:avLst>
              <a:gd fmla="val 1961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795528" y="1828800"/>
            <a:ext cx="5038344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best_predictions = best_model.predict(X_test)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prediction_results = pd.DataFrame({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"Song Name": song_test.values,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"Artist": artist_test.values,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"Actual Popularity": y_test.values,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"Predicted Popularity": best_predictions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potify_assets/prediction_sample_table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512" y="1808791"/>
            <a:ext cx="4837176" cy="118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309360" y="36118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Sample prediction table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309360" y="3977640"/>
            <a:ext cx="4983480" cy="210312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top_predicted_table.png" id="167" name="Google Shape;1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2512" y="4232374"/>
            <a:ext cx="4837176" cy="159365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6309360" y="6126480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Top predicted songs table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85800" y="4663440"/>
            <a:ext cx="5257800" cy="685800"/>
          </a:xfrm>
          <a:prstGeom prst="roundRect">
            <a:avLst>
              <a:gd fmla="val 10667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22960" y="480060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table answers: “ what predicted score?”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7100" y="1600200"/>
            <a:ext cx="7387749" cy="4064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Visualization: Actual vs Predicted and Top Songs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9"/>
          <p:cNvSpPr/>
          <p:nvPr/>
        </p:nvSpPr>
        <p:spPr>
          <a:xfrm>
            <a:off x="685800" y="1234440"/>
            <a:ext cx="3429000" cy="2880360"/>
          </a:xfrm>
          <a:prstGeom prst="roundRect">
            <a:avLst>
              <a:gd fmla="val 1587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cell56_2.png"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764" y="1307592"/>
            <a:ext cx="3147073" cy="273405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685800" y="416052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Random Forest actual vs predicted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potify_assets/cell72_1.png" id="184" name="Google Shape;1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5450" y="1496125"/>
            <a:ext cx="5110474" cy="235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5430695" y="4041645"/>
            <a:ext cx="333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Top predicted songs chart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85800" y="4617720"/>
            <a:ext cx="7132320" cy="1234440"/>
          </a:xfrm>
          <a:prstGeom prst="roundRect">
            <a:avLst>
              <a:gd fmla="val 3704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795528" y="4709160"/>
            <a:ext cx="69128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plt.scatter(y_test, y_pred)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plt.plot([y_test.min(), y_test.max()],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 [y_test.min(), y_test.max()])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plt.xlabel("Actual Popularity")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plt.ylabel("Predicted Popularity")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775" y="1271025"/>
            <a:ext cx="3079825" cy="280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Cross-Validation and Feature Importance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0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0"/>
          <p:cNvSpPr/>
          <p:nvPr/>
        </p:nvSpPr>
        <p:spPr>
          <a:xfrm>
            <a:off x="685800" y="1234440"/>
            <a:ext cx="4892040" cy="1691640"/>
          </a:xfrm>
          <a:prstGeom prst="roundRect">
            <a:avLst>
              <a:gd fmla="val 2703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795528" y="1325880"/>
            <a:ext cx="4672584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scores = cross_val_score(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model, X, y,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scoring="neg_root_mean_squared_error",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cv=5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mean_cv_rmse = (-scores).mean()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080760" y="1234440"/>
            <a:ext cx="5212080" cy="3977640"/>
          </a:xfrm>
          <a:prstGeom prst="roundRect">
            <a:avLst>
              <a:gd fmla="val 1149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friend_cell50_1.png"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3912" y="1544154"/>
            <a:ext cx="5065776" cy="335821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6080760" y="525780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Top feature importance screenshot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77240" y="3291840"/>
            <a:ext cx="48006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Cross-validation gives a more reliable estimate than one train/test split.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importance explains which variables drive predictions.</a:t>
            </a:r>
            <a:b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Artist Followers and release timing were strong drivers in the shown result.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85800" y="5715000"/>
            <a:ext cx="10607040" cy="502920"/>
          </a:xfrm>
          <a:prstGeom prst="roundRect">
            <a:avLst>
              <a:gd fmla="val 14545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22960" y="5852160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 selected the model with the lowest cross-validated RMSE and reviewed feature importance to explain the result.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02920" y="502920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Final Conclusion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>
            <a:off x="502920" y="1005840"/>
            <a:ext cx="1115568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1"/>
          <p:cNvSpPr/>
          <p:nvPr/>
        </p:nvSpPr>
        <p:spPr>
          <a:xfrm>
            <a:off x="822960" y="14173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1182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project predicted Spotify Popularity as a numeric regression target.</a:t>
            </a:r>
            <a:b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cleaning converted numeric text and handled categorical Genre and Chord.</a:t>
            </a:r>
            <a:b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Leakage columns were removed to make the prediction fair for new songs.</a:t>
            </a:r>
            <a:b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Three tree-based models were compared using RMSE and cross-validation.</a:t>
            </a:r>
            <a:b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Prediction tables and graphs show the model outputs song-level predicted scores.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629400" y="1234440"/>
            <a:ext cx="4572000" cy="210312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potify_assets/best_error_table.png" id="217" name="Google Shape;2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2552" y="1744808"/>
            <a:ext cx="4425696" cy="10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>
            <a:off x="6629400" y="33832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Examples with smallest prediction error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629400" y="3886200"/>
            <a:ext cx="4572000" cy="1051560"/>
          </a:xfrm>
          <a:prstGeom prst="roundRect">
            <a:avLst>
              <a:gd fmla="val 4348" name="adj"/>
            </a:avLst>
          </a:prstGeom>
          <a:solidFill>
            <a:srgbClr val="111827"/>
          </a:solidFill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6739128" y="3977640"/>
            <a:ext cx="43525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Final reporting table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prediction_results.sort_values(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by="Predicted Popularity",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ascending=False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).head(10)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22960" y="4892055"/>
            <a:ext cx="5669400" cy="868800"/>
          </a:xfrm>
          <a:prstGeom prst="roundRect">
            <a:avLst>
              <a:gd fmla="val 8421" name="adj"/>
            </a:avLst>
          </a:prstGeom>
          <a:solidFill>
            <a:srgbClr val="E9F8EF"/>
          </a:solidFill>
          <a:ln cap="flat" cmpd="sng" w="101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960120" y="4892040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</a:rPr>
              <a:t>T</a:t>
            </a: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he model estimates each song’s popularity score and helps explain which features influence that score.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1567160" y="644652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360ea66a2_0_32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g3e360ea66a2_0_32"/>
          <p:cNvCxnSpPr/>
          <p:nvPr/>
        </p:nvCxnSpPr>
        <p:spPr>
          <a:xfrm>
            <a:off x="502920" y="1005840"/>
            <a:ext cx="1115580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3e360ea66a2_0_32"/>
          <p:cNvSpPr/>
          <p:nvPr/>
        </p:nvSpPr>
        <p:spPr>
          <a:xfrm>
            <a:off x="11567160" y="6446520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e360ea66a2_0_32" title="ChatGPT Image May 19, 2026, 07_10_2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623600"/>
            <a:ext cx="11221151" cy="60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7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360ea66a2_0_9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3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F8A3F"/>
                </a:solidFill>
                <a:latin typeface="Arial"/>
                <a:ea typeface="Arial"/>
                <a:cs typeface="Arial"/>
                <a:sym typeface="Arial"/>
              </a:rPr>
              <a:t>Spotify Project 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g3e360ea66a2_0_9"/>
          <p:cNvCxnSpPr/>
          <p:nvPr/>
        </p:nvCxnSpPr>
        <p:spPr>
          <a:xfrm>
            <a:off x="502920" y="1005840"/>
            <a:ext cx="11155800" cy="0"/>
          </a:xfrm>
          <a:prstGeom prst="straightConnector1">
            <a:avLst/>
          </a:prstGeom>
          <a:noFill/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g3e360ea66a2_0_9"/>
          <p:cNvSpPr/>
          <p:nvPr/>
        </p:nvSpPr>
        <p:spPr>
          <a:xfrm>
            <a:off x="11567160" y="6446520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wo women wearing headphones with the words so i say thank you for the music above them (Provided by Tenor)" id="241" name="Google Shape;241;g3e360ea66a2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800" y="1936675"/>
            <a:ext cx="474345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3d man is scratching his head in front of a large red question mark . (Provided by Tenor)" id="242" name="Google Shape;242;g3e360ea66a2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4000" y="185997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2026-05-19T18:12:55Z</dcterms:created>
  <dc:creator>OpenAI</dc:creator>
</cp:coreProperties>
</file>