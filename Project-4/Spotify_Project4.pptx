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365760"/>
            <a:ext cx="3108960" cy="3108960"/>
          </a:xfrm>
          <a:prstGeom prst="arc">
            <a:avLst/>
          </a:prstGeom>
          <a:noFill/>
          <a:ln w="38100">
            <a:solidFill>
              <a:srgbClr val="1DB954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77240"/>
            <a:ext cx="2286000" cy="2286000"/>
          </a:xfrm>
          <a:prstGeom prst="arc">
            <a:avLst/>
          </a:prstGeom>
          <a:noFill/>
          <a:ln w="25400">
            <a:solidFill>
              <a:srgbClr val="1DB954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</a:rPr>
              <a:t>Project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Spotify Music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Popularity 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Tree-based regression model • RMSE comparison • Feature importance • Predicted song scores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3794760"/>
            <a:ext cx="6903720" cy="1005840"/>
          </a:xfrm>
          <a:prstGeom prst="roundRect">
            <a:avLst>
              <a:gd name="adj" fmla="val 7273"/>
            </a:avLst>
          </a:prstGeom>
          <a:solidFill>
            <a:srgbClr val="E9F8EF"/>
          </a:solidFill>
          <a:ln w="10160">
            <a:solidFill>
              <a:srgbClr val="1DB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Goal: predict a numeric Popularity score from song/audio features available before a song becomes popular.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6126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Presentation guide with sample code and result screenshots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Project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What are we predicting?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4709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Target variable: Popularity
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Problem type: regression
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Success metric: lower RMSE
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Model output: predicted Spotify popularity score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5440680" cy="1965960"/>
          </a:xfrm>
          <a:prstGeom prst="roundRect">
            <a:avLst>
              <a:gd name="adj" fmla="val 2326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9048" y="1508760"/>
            <a:ext cx="5221224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"Popularity"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df_model.drop(columns=["Popularity"])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df_model["Popularity"]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learns: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song features  -&gt; popularity score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5196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E9F8EF"/>
          </a:solidFill>
          <a:ln w="1016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8912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Presentation sentence: “Using this model, I predicted how popular a song could be on Spotify based on available song characteristics.”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5486400"/>
            <a:ext cx="10744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Not predicted directly: streams, chart position, number of weeks charted, or hit/not-hit category.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Project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DDF7E7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81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A3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4712" y="1591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Load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1618488"/>
            <a:ext cx="301752" cy="301752"/>
          </a:xfrm>
          <a:prstGeom prst="chevron">
            <a:avLst/>
          </a:prstGeom>
          <a:solidFill>
            <a:srgbClr val="1DB95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41732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1581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A3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591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Clean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618488"/>
            <a:ext cx="301752" cy="301752"/>
          </a:xfrm>
          <a:prstGeom prst="chevron">
            <a:avLst/>
          </a:prstGeom>
          <a:solidFill>
            <a:srgbClr val="1DB95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141732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1581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A3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05272" y="1591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Engineer features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86600" y="1618488"/>
            <a:ext cx="301752" cy="301752"/>
          </a:xfrm>
          <a:prstGeom prst="chevron">
            <a:avLst/>
          </a:prstGeom>
          <a:solidFill>
            <a:srgbClr val="1DB95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41732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1581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A3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45552" y="1591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Train models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26880" y="1618488"/>
            <a:ext cx="301752" cy="301752"/>
          </a:xfrm>
          <a:prstGeom prst="chevron">
            <a:avLst/>
          </a:prstGeom>
          <a:solidFill>
            <a:srgbClr val="1DB95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141732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56648" y="1581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A3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85832" y="1591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Compare RMSE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2743200"/>
            <a:ext cx="5806440" cy="3383280"/>
          </a:xfrm>
          <a:prstGeom prst="roundRect">
            <a:avLst>
              <a:gd name="adj" fmla="val 1351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2834640"/>
            <a:ext cx="5586984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"Decision Tree": DecisionTreeRegressor(max_depth=3),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"Random Forest": RandomForestRegressor(n_estimators=100, max_depth=10),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"Gradient Boosting": GradientBoostingRegressor(n_estimators=100, learning_rate=0.05, max_depth=3)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model in models.items():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model.fit(X_train, y_train)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y_pred = model.predict(X_test)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rmse = np.sqrt(mean_squared_error(y_test, y_pred))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2788920"/>
            <a:ext cx="443484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27" name="Image 0" descr="/mnt/data/spotify_assets/model_result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3383026"/>
            <a:ext cx="4288536" cy="8234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903720" y="48463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Sample model comparison output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903720" y="5212080"/>
            <a:ext cx="4434840" cy="685800"/>
          </a:xfrm>
          <a:prstGeom prst="roundRect">
            <a:avLst>
              <a:gd name="adj" fmla="val 10667"/>
            </a:avLst>
          </a:prstGeom>
          <a:solidFill>
            <a:srgbClr val="E9F8EF"/>
          </a:solidFill>
          <a:ln w="10160">
            <a:solidFill>
              <a:srgbClr val="1DB95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40880" y="5349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The model with the lowest RMSE is selected as the best model for prediction and explanation.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Project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Main cleaning decisions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84632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Removed comma formatting from numeric text values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Converted numeric-looking object columns to numbers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Dropped rows where numeric conversion failed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Kept only Genre and Chord as categorical predictors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Encoded Genre and Chord using label encoding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97880" y="1325880"/>
            <a:ext cx="5486400" cy="2788920"/>
          </a:xfrm>
          <a:prstGeom prst="roundRect">
            <a:avLst>
              <a:gd name="adj" fmla="val 1639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07608" y="1417320"/>
            <a:ext cx="5266944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numeric_pattern = r"^-?\d+(\.\d+)?$"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object_cols: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df_cleaned[col].astype(str).str.strip()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s_clean = s.str.replace(",", "", regex=False)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match_rate = s_clean[df_cleaned[col].notna()].str.match(numeric_pattern).mean()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match_rate &gt;= 0.8: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df_cleaned[col] = pd.to_numeric(s_clean, errors="coerce")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97880" y="4343400"/>
            <a:ext cx="5486400" cy="16002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07608" y="4434840"/>
            <a:ext cx="526694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all categorical columns except Genre and Chord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categorical_to_keep = ["Genre", "Chord"]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kept categories into numeric labels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categorical_to_keep: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encoder = LabelEncoder()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df_cleaned[col] = encoder.fit_transform(df_cleaned[col].astype(str))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Project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Understanding Popularity and Chart Fields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5669280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6" name="Image 0" descr="/mnt/data/spotify_assets/friend_cell2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363294"/>
            <a:ext cx="5522976" cy="14456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9834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Distribution screenshots from EDA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29400" y="1417320"/>
            <a:ext cx="45720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Popularity is the final target because it is already numeric and directly aligned to the project goal.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Streams and charting columns are useful for exploration, but should not be predictors for a new song.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EDA helps identify skew, outliers, and possible leakage variables.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629400" y="39319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E9F8EF"/>
          </a:solidFill>
          <a:ln w="10160">
            <a:solidFill>
              <a:srgbClr val="1DB9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4069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Key idea: EDA is not only for charts; it also helps decide which variables should be allowed into the model.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629400" y="5074920"/>
            <a:ext cx="4572000" cy="105156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39128" y="5166360"/>
            <a:ext cx="435254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df_spotify.describe().transpose()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df_spotify.isna().sum()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df_spotify.dtypes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Explore candidate targets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["Popularity", "Streams", "Number of Times Charted"]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Project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Selection: Avoid Data Leakage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4937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Columns removed from predictors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7091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Highest Charting Position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Number of Times Charted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Streams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Week of Highest Charting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Weeks Charted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Song Name / Song ID / Artist for model input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89320" y="1325880"/>
            <a:ext cx="5349240" cy="2377440"/>
          </a:xfrm>
          <a:prstGeom prst="roundRect">
            <a:avLst>
              <a:gd name="adj" fmla="val 1923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9048" y="1417320"/>
            <a:ext cx="5129784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leakage_cols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"Highest Charting Position",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"Number of Times Charted",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"Streams",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"Week of Highest Charting",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"Weeks Charted"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df_model = df_model.drop(columns=leakage_cols, errors="ignore")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4251960"/>
            <a:ext cx="106527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016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89120"/>
            <a:ext cx="10378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Why: these values are known after release/chart performance. Using them to predict a new song would make the model “cheat.”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5532120"/>
            <a:ext cx="10652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Allowed predictors include audio features, Artist Followers, Genre, Chord, and simple release-date features.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Project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Training and RMSE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5349240" cy="374904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6" name="Image 0" descr="/mnt/data/spotify_assets/cell5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13" y="1307592"/>
            <a:ext cx="4894014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02920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RMSE comparison graph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234440"/>
            <a:ext cx="4754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9" name="Image 1" descr="/mnt/data/spotify_assets/model_results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706379"/>
            <a:ext cx="4608576" cy="8849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1089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RMSE table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92240" y="3520440"/>
            <a:ext cx="4572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RMSE measures how far predictions are from actual popularity values.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Lower RMSE means a better model.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Random Forest performed best in the sample results shown.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0" y="5074920"/>
            <a:ext cx="4754880" cy="105156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10528" y="5166360"/>
            <a:ext cx="453542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np.sqrt(mean_squared_error(y_test, y_pred))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results.append({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"Model": model_name,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"RMSE": rmse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Project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Results: What Did the Model Predict?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The actual prediction happens here: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5257800" cy="2331720"/>
          </a:xfrm>
          <a:prstGeom prst="roundRect">
            <a:avLst>
              <a:gd name="adj" fmla="val 1961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828800"/>
            <a:ext cx="5038344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best_predictions = best_model.predict(X_test)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prediction_results = pd.DataFrame({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"Song Name": song_test.values,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"Artist": artist_test.values,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"Actual Popularity": y_test.values,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"Predicted Popularity": best_predictions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498348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9" name="Image 0" descr="/mnt/data/spotify_assets/prediction_sample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1808791"/>
            <a:ext cx="4837176" cy="11830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0" y="36118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Sample prediction table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09360" y="3977640"/>
            <a:ext cx="498348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12" name="Image 1" descr="/mnt/data/spotify_assets/top_predicted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4232374"/>
            <a:ext cx="4837176" cy="15936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9360" y="61264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Top predicted songs table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85800" y="466344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E9F8EF"/>
          </a:solidFill>
          <a:ln w="10160">
            <a:solidFill>
              <a:srgbClr val="1DB95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48006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This table answers: “Which song got what predicted score?”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Project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Visualization: Actual vs Predicted and Top Songs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42900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6" name="Image 0" descr="/mnt/data/spotify_assets/cell56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4" y="1307592"/>
            <a:ext cx="3147073" cy="2734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1605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Random Forest actual vs predicted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89120" y="1234440"/>
            <a:ext cx="342900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9" name="Image 1" descr="/mnt/data/spotify_assets/cell56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084" y="1307592"/>
            <a:ext cx="3147073" cy="2734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41605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XGBoost actual vs predicted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046720" y="1234440"/>
            <a:ext cx="3337560" cy="37947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12" name="Image 2" descr="/mnt/data/spotify_assets/cell72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2395894"/>
            <a:ext cx="3191256" cy="14718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0" y="50749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Top predicted songs chart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85800" y="4617720"/>
            <a:ext cx="7132320" cy="1234440"/>
          </a:xfrm>
          <a:prstGeom prst="roundRect">
            <a:avLst>
              <a:gd name="adj" fmla="val 3704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95528" y="4709160"/>
            <a:ext cx="6912864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plt.scatter(y_test, y_pred)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plt.plot([y_test.min(), y_test.max()],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[y_test.min(), y_test.max()])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plt.xlabel("Actual Popularity")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plt.ylabel("Predicted Popularity")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Project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Cross-Validation and Feature Importance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4892040" cy="1691640"/>
          </a:xfrm>
          <a:prstGeom prst="roundRect">
            <a:avLst>
              <a:gd name="adj" fmla="val 2703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325880"/>
            <a:ext cx="467258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cross_val_score(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model, X, 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scoring="neg_root_mean_squared_error",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cv=5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mean_cv_rmse = (-scores).mean()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1234440"/>
            <a:ext cx="521208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8" name="Image 0" descr="/mnt/data/spotify_assets/friend_cell5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912" y="1544154"/>
            <a:ext cx="5065776" cy="33582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80760" y="52578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Top feature importance screenshot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291840"/>
            <a:ext cx="48006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Cross-validation gives a more reliable estimate than one train/test split.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Feature importance explains which variables drive predictions.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Artist Followers and release timing were strong drivers in the shown result.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E9F8EF"/>
          </a:solidFill>
          <a:ln w="10160">
            <a:solidFill>
              <a:srgbClr val="1DB9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85216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Good final message: “I selected the model with the lowest cross-validated RMSE and reviewed feature importance to explain the result.”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Project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6692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This project predicted Spotify Popularity as a numeric regression target.
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Data cleaning converted numeric text and handled categorical Genre and Chord.
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Leakage columns were removed to make the prediction fair for new songs.
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Three tree-based models were compared using RMSE and cross-validation.
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Prediction tables and graphs show the model outputs song-level predicted scores.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29400" y="1234440"/>
            <a:ext cx="45720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pic>
        <p:nvPicPr>
          <p:cNvPr id="7" name="Image 0" descr="/mnt/data/spotify_assets/best_error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744808"/>
            <a:ext cx="4425696" cy="10823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3383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Examples with smallest prediction error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29400" y="3886200"/>
            <a:ext cx="4572000" cy="105156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39128" y="3977640"/>
            <a:ext cx="435254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Final reporting 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prediction_results.sort_values(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by="Predicted Popularity",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ascending=False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).head(10)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475488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E9F8EF"/>
          </a:solidFill>
          <a:ln w="10160">
            <a:solidFill>
              <a:srgbClr val="1DB9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8920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In simple words: the model estimates each song’s popularity score and helps explain which features influence that score.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Music Popularity Prediction</dc:title>
  <dc:subject>Spotify Project 4: Music Popularity Prediction</dc:subject>
  <dc:creator>OpenAI</dc:creator>
  <cp:lastModifiedBy>OpenAI</cp:lastModifiedBy>
  <cp:revision>1</cp:revision>
  <dcterms:created xsi:type="dcterms:W3CDTF">2026-05-19T18:12:55Z</dcterms:created>
  <dcterms:modified xsi:type="dcterms:W3CDTF">2026-05-19T18:12:55Z</dcterms:modified>
</cp:coreProperties>
</file>