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LgIsuLUDCmkLotV1i7TokkQ3b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463DED-4D88-4FF7-9713-6ECA5F901E6D}">
  <a:tblStyle styleId="{60463DED-4D88-4FF7-9713-6ECA5F901E6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d8ec49f56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dd8ec49f56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dd8ec49f56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B2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858000" y="-1097280"/>
            <a:ext cx="4572000" cy="4572000"/>
          </a:xfrm>
          <a:prstGeom prst="ellipse">
            <a:avLst/>
          </a:prstGeom>
          <a:solidFill>
            <a:srgbClr val="0D9488">
              <a:alpha val="18039"/>
            </a:srgbClr>
          </a:solidFill>
          <a:ln cap="flat" cmpd="sng" w="12700">
            <a:solidFill>
              <a:srgbClr val="0D9488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F6E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9F6E4"/>
                </a:solidFill>
                <a:latin typeface="Calibri"/>
                <a:ea typeface="Calibri"/>
                <a:cs typeface="Calibri"/>
                <a:sym typeface="Calibri"/>
              </a:rPr>
              <a:t>SQL Project 3 - Data Science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40080" y="1234440"/>
            <a:ext cx="7772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Chinook Music Database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2514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F6E4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99F6E4"/>
                </a:solidFill>
                <a:latin typeface="Calibri"/>
                <a:ea typeface="Calibri"/>
                <a:cs typeface="Calibri"/>
                <a:sym typeface="Calibri"/>
              </a:rPr>
              <a:t>SQLite3 + Python Pandas + Matplotlib  |  Google Colab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" y="3063240"/>
            <a:ext cx="2286000" cy="457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640075" y="3291852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07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7070"/>
                </a:solidFill>
                <a:latin typeface="Calibri"/>
                <a:ea typeface="Calibri"/>
                <a:cs typeface="Calibri"/>
                <a:sym typeface="Calibri"/>
              </a:rPr>
              <a:t>Srilatha Alla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AFA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2B"/>
          </a:solidFill>
          <a:ln cap="flat" cmpd="sng" w="12700">
            <a:solidFill>
              <a:srgbClr val="0D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 Learned: SQLite3 Setup in Google Colab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365760" y="82296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Step 1 — Install &amp; Verify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65760" y="1143000"/>
            <a:ext cx="3931920" cy="1143000"/>
          </a:xfrm>
          <a:prstGeom prst="rect">
            <a:avLst/>
          </a:prstGeom>
          <a:solidFill>
            <a:srgbClr val="1E3A3A"/>
          </a:solidFill>
          <a:ln cap="flat" cmpd="sng" w="12700">
            <a:solidFill>
              <a:srgbClr val="1E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02920" y="1188720"/>
            <a:ext cx="3657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%%bash</a:t>
            </a:r>
            <a:b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apt-get install -y sqlite3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pip install sqlite-web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!sqlite3 --version </a:t>
            </a:r>
            <a:r>
              <a:rPr lang="en-US" sz="1050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–- 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3.37.2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65760" y="23774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Step 2 — Connect with Python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65760" y="2697480"/>
            <a:ext cx="3931920" cy="1005840"/>
          </a:xfrm>
          <a:prstGeom prst="rect">
            <a:avLst/>
          </a:prstGeom>
          <a:solidFill>
            <a:srgbClr val="1E3A3A"/>
          </a:solidFill>
          <a:ln cap="flat" cmpd="sng" w="12700">
            <a:solidFill>
              <a:srgbClr val="1E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02920" y="274320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sqlite3 </a:t>
            </a:r>
            <a:r>
              <a:rPr b="1" i="0" lang="en-US" sz="105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db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05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pandas </a:t>
            </a:r>
            <a:r>
              <a:rPr b="1" i="0" lang="en-US" sz="105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db_con = db.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connect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("chinook.db")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663440" y="82296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Two Ways to Query in Colab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663440" y="1143000"/>
            <a:ext cx="4206240" cy="2560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709160" y="1161288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 %%script sqlite3 magic (CLI output)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663440" y="1417320"/>
            <a:ext cx="4206240" cy="822960"/>
          </a:xfrm>
          <a:prstGeom prst="rect">
            <a:avLst/>
          </a:prstGeom>
          <a:solidFill>
            <a:srgbClr val="1E3A3A"/>
          </a:solidFill>
          <a:ln cap="flat" cmpd="sng" w="12700">
            <a:solidFill>
              <a:srgbClr val="1E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800600" y="1463040"/>
            <a:ext cx="3931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%%script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sqlite3 --column --header chinook.db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0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name </a:t>
            </a:r>
            <a:r>
              <a:rPr b="1" i="0" lang="en-US" sz="10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sqlite_master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0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type=</a:t>
            </a:r>
            <a:r>
              <a:rPr b="0" i="0" lang="en-US" sz="100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'table'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663440" y="2377440"/>
            <a:ext cx="4206240" cy="2560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4709160" y="2395728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  pd.read_sql_query (DataFrame output)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663440" y="2651760"/>
            <a:ext cx="4206240" cy="1143000"/>
          </a:xfrm>
          <a:prstGeom prst="rect">
            <a:avLst/>
          </a:prstGeom>
          <a:solidFill>
            <a:srgbClr val="1E3A3A"/>
          </a:solidFill>
          <a:ln cap="flat" cmpd="sng" w="12700">
            <a:solidFill>
              <a:srgbClr val="1E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800600" y="2697480"/>
            <a:ext cx="39319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query = "SELECT name FROM sqlite_master "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df = pd.</a:t>
            </a:r>
            <a:r>
              <a:rPr b="0" i="0" lang="en-US" sz="100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read_sql_query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query, db_con)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070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B7070"/>
                </a:solidFill>
                <a:latin typeface="Calibri"/>
                <a:ea typeface="Calibri"/>
                <a:cs typeface="Calibri"/>
                <a:sym typeface="Calibri"/>
              </a:rPr>
              <a:t>Key insight: %%script shows raw CLI output; pd.read_sql_query returns a pandas DataFrame you can plot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AFA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2B"/>
          </a:solidFill>
          <a:ln cap="flat" cmpd="sng" w="12700">
            <a:solidFill>
              <a:srgbClr val="0D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Chinook Dataset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274320" y="1005840"/>
            <a:ext cx="19202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8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274320" y="109728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🎵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74320" y="169164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B2B"/>
                </a:solidFill>
                <a:latin typeface="Calibri"/>
                <a:ea typeface="Calibri"/>
                <a:cs typeface="Calibri"/>
                <a:sym typeface="Calibri"/>
              </a:rPr>
              <a:t>11 Tables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274320" y="20574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0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7070"/>
                </a:solidFill>
                <a:latin typeface="Calibri"/>
                <a:ea typeface="Calibri"/>
                <a:cs typeface="Calibri"/>
                <a:sym typeface="Calibri"/>
              </a:rPr>
              <a:t>tracks, albums, artists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0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7070"/>
                </a:solidFill>
                <a:latin typeface="Calibri"/>
                <a:ea typeface="Calibri"/>
                <a:cs typeface="Calibri"/>
                <a:sym typeface="Calibri"/>
              </a:rPr>
              <a:t>invoices, customers…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2450592" y="1005840"/>
            <a:ext cx="19202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8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2450592" y="109728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👥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2450592" y="169164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B2B"/>
                </a:solidFill>
                <a:latin typeface="Calibri"/>
                <a:ea typeface="Calibri"/>
                <a:cs typeface="Calibri"/>
                <a:sym typeface="Calibri"/>
              </a:rPr>
              <a:t>59 Customers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2450592" y="20574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0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7070"/>
                </a:solidFill>
                <a:latin typeface="Calibri"/>
                <a:ea typeface="Calibri"/>
                <a:cs typeface="Calibri"/>
                <a:sym typeface="Calibri"/>
              </a:rPr>
              <a:t>spanning 24 countries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0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7070"/>
                </a:solidFill>
                <a:latin typeface="Calibri"/>
                <a:ea typeface="Calibri"/>
                <a:cs typeface="Calibri"/>
                <a:sym typeface="Calibri"/>
              </a:rPr>
              <a:t>globally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626864" y="1005840"/>
            <a:ext cx="19202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8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4626864" y="109728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🧾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626864" y="169164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B2B"/>
                </a:solidFill>
                <a:latin typeface="Calibri"/>
                <a:ea typeface="Calibri"/>
                <a:cs typeface="Calibri"/>
                <a:sym typeface="Calibri"/>
              </a:rPr>
              <a:t>412 Invoices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626864" y="20574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0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7070"/>
                </a:solidFill>
                <a:latin typeface="Calibri"/>
                <a:ea typeface="Calibri"/>
                <a:cs typeface="Calibri"/>
                <a:sym typeface="Calibri"/>
              </a:rPr>
              <a:t>real purchase records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0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7070"/>
                </a:solidFill>
                <a:latin typeface="Calibri"/>
                <a:ea typeface="Calibri"/>
                <a:cs typeface="Calibri"/>
                <a:sym typeface="Calibri"/>
              </a:rPr>
              <a:t>with line items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803136" y="1005840"/>
            <a:ext cx="19202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8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6803136" y="109728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🎸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803136" y="169164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B2B"/>
                </a:solidFill>
                <a:latin typeface="Calibri"/>
                <a:ea typeface="Calibri"/>
                <a:cs typeface="Calibri"/>
                <a:sym typeface="Calibri"/>
              </a:rPr>
              <a:t>275 Artists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803136" y="20574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0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7070"/>
                </a:solidFill>
                <a:latin typeface="Calibri"/>
                <a:ea typeface="Calibri"/>
                <a:cs typeface="Calibri"/>
                <a:sym typeface="Calibri"/>
              </a:rPr>
              <a:t>across multiple genres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0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7070"/>
                </a:solidFill>
                <a:latin typeface="Calibri"/>
                <a:ea typeface="Calibri"/>
                <a:cs typeface="Calibri"/>
                <a:sym typeface="Calibri"/>
              </a:rPr>
              <a:t>and media types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07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B7070"/>
                </a:solidFill>
                <a:latin typeface="Calibri"/>
                <a:ea typeface="Calibri"/>
                <a:cs typeface="Calibri"/>
                <a:sym typeface="Calibri"/>
              </a:rPr>
              <a:t>Queried using SQLite3 + Python (sqlite3, pandas, matplotlib) in Google Colab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375" y="2532000"/>
            <a:ext cx="1920225" cy="2611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AFA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2B"/>
          </a:solidFill>
          <a:ln cap="flat" cmpd="sng" w="12700">
            <a:solidFill>
              <a:srgbClr val="0D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Challenging Query: 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Year 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Conversion - </a:t>
            </a:r>
            <a:r>
              <a:rPr b="1" lang="en-US" sz="1000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strftime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365760" y="8686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65750" y="1188727"/>
            <a:ext cx="4114800" cy="3415800"/>
          </a:xfrm>
          <a:prstGeom prst="rect">
            <a:avLst/>
          </a:prstGeom>
          <a:solidFill>
            <a:srgbClr val="1E3A3A"/>
          </a:solidFill>
          <a:ln cap="flat" cmpd="sng" w="12700">
            <a:solidFill>
              <a:srgbClr val="1E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502925" y="1261876"/>
            <a:ext cx="3749100" cy="3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00"/>
              <a:buFont typeface="Consolas"/>
              <a:buNone/>
            </a:pPr>
            <a:r>
              <a:rPr lang="en-US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#Which sales agent made the most in sales in 2010?</a:t>
            </a:r>
            <a:endParaRPr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%%script sqlite3 --column --header chinook.db</a:t>
            </a:r>
            <a:endParaRPr b="1" sz="1000">
              <a:solidFill>
                <a:srgbClr val="14B8A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endParaRPr b="1" sz="1000">
              <a:solidFill>
                <a:srgbClr val="14B8A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    e.FirstName || ' ' || e.LastName AS SalesAgentName,</a:t>
            </a:r>
            <a:endParaRPr b="1" sz="1000">
              <a:solidFill>
                <a:srgbClr val="14B8A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    ROUND(SUM(i.Total), 2) AS TotalSales</a:t>
            </a:r>
            <a:endParaRPr b="1" sz="1000">
              <a:solidFill>
                <a:srgbClr val="14B8A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FROM Employees e</a:t>
            </a:r>
            <a:endParaRPr b="1" sz="1000">
              <a:solidFill>
                <a:srgbClr val="14B8A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JOIN Customers c</a:t>
            </a:r>
            <a:endParaRPr b="1" sz="1000">
              <a:solidFill>
                <a:srgbClr val="14B8A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    ON e.EmployeeId = c.SupportRepId</a:t>
            </a:r>
            <a:endParaRPr b="1" sz="1000">
              <a:solidFill>
                <a:srgbClr val="14B8A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JOIN Invoices i</a:t>
            </a:r>
            <a:endParaRPr b="1" sz="1000">
              <a:solidFill>
                <a:srgbClr val="14B8A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    ON c.CustomerId = i.CustomerId</a:t>
            </a:r>
            <a:endParaRPr b="1" sz="1000">
              <a:solidFill>
                <a:srgbClr val="14B8A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WHERE e.Title = 'Sales Support Agent'</a:t>
            </a:r>
            <a:endParaRPr b="1" sz="1000">
              <a:solidFill>
                <a:srgbClr val="14B8A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  AND strftime('%Y', i.InvoiceDate) = '2010'</a:t>
            </a:r>
            <a:endParaRPr b="1" sz="1000">
              <a:solidFill>
                <a:srgbClr val="14B8A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GROUP BY e.EmployeeId, SalesAgentName</a:t>
            </a:r>
            <a:endParaRPr b="1" sz="1000">
              <a:solidFill>
                <a:srgbClr val="14B8A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ORDER BY TotalSales DESC</a:t>
            </a:r>
            <a:endParaRPr b="1" sz="1000">
              <a:solidFill>
                <a:srgbClr val="14B8A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LIMIT 1</a:t>
            </a:r>
            <a:endParaRPr b="1" sz="1000">
              <a:solidFill>
                <a:srgbClr val="14B8A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754880" y="8686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4754880" y="1188720"/>
            <a:ext cx="4114800" cy="640080"/>
          </a:xfrm>
          <a:prstGeom prst="rect">
            <a:avLst/>
          </a:prstGeom>
          <a:solidFill>
            <a:srgbClr val="1E3A3A"/>
          </a:solidFill>
          <a:ln cap="flat" cmpd="sng" w="12700">
            <a:solidFill>
              <a:srgbClr val="1E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4892040" y="123444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Jane  Peacock  3  -&gt;  21 customers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754880" y="20116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What I Learned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754880" y="2377440"/>
            <a:ext cx="41148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JOIN</a:t>
            </a:r>
            <a:r>
              <a:rPr b="0" i="0" lang="en-US" sz="1200" u="none" cap="none" strike="noStrike">
                <a:solidFill>
                  <a:srgbClr val="0D2B2B"/>
                </a:solidFill>
                <a:latin typeface="Calibri"/>
                <a:ea typeface="Calibri"/>
                <a:cs typeface="Calibri"/>
                <a:sym typeface="Calibri"/>
              </a:rPr>
              <a:t> links customers to employees on SupportRepId</a:t>
            </a:r>
            <a:br>
              <a:rPr b="0" i="0" lang="en-US" sz="1200" u="none" cap="none" strike="noStrike">
                <a:solidFill>
                  <a:srgbClr val="0D2B2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0D2B2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GROUP BY</a:t>
            </a:r>
            <a:r>
              <a:rPr b="0" i="0" lang="en-US" sz="1200" u="none" cap="none" strike="noStrike">
                <a:solidFill>
                  <a:srgbClr val="0D2B2B"/>
                </a:solidFill>
                <a:latin typeface="Calibri"/>
                <a:ea typeface="Calibri"/>
                <a:cs typeface="Calibri"/>
                <a:sym typeface="Calibri"/>
              </a:rPr>
              <a:t> collapses rows per employee so COUNT returns per-rep totals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B2B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1724" y="1209675"/>
            <a:ext cx="2651203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AF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2B"/>
          </a:solidFill>
          <a:ln cap="flat" cmpd="sng" w="12700">
            <a:solidFill>
              <a:srgbClr val="0D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Query: BETWEEN + ORDER BY on Dates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365760" y="8686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365760" y="1188720"/>
            <a:ext cx="4023360" cy="1737360"/>
          </a:xfrm>
          <a:prstGeom prst="rect">
            <a:avLst/>
          </a:prstGeom>
          <a:solidFill>
            <a:srgbClr val="1E3A3A"/>
          </a:solidFill>
          <a:ln cap="flat" cmpd="sng" w="12700">
            <a:solidFill>
              <a:srgbClr val="1E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502920" y="1261872"/>
            <a:ext cx="37947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* </a:t>
            </a:r>
            <a:r>
              <a:rPr b="1" i="0" lang="en-US" sz="105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employees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05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HireDate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BETWEEN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'2002-05-01'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AND '2003-10-18'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05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ORDER BY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BirthDate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663440" y="8686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Result (3 rows, ordered by DOB)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7" name="Google Shape;97;p5"/>
          <p:cNvGraphicFramePr/>
          <p:nvPr/>
        </p:nvGraphicFramePr>
        <p:xfrm>
          <a:off x="466344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{60463DED-4D88-4FF7-9713-6ECA5F901E6D}</a:tableStyleId>
              </a:tblPr>
              <a:tblGrid>
                <a:gridCol w="1645925"/>
                <a:gridCol w="1463050"/>
                <a:gridCol w="1097275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Name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Title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Born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B2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2B2B"/>
                          </a:solidFill>
                        </a:rPr>
                        <a:t>Margaret Park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B2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2B2B"/>
                          </a:solidFill>
                        </a:rPr>
                        <a:t>Sales Support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B2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2B2B"/>
                          </a:solidFill>
                        </a:rPr>
                        <a:t>1947-09-19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B2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2B2B"/>
                          </a:solidFill>
                        </a:rPr>
                        <a:t>Nancy Edwards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B2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2B2B"/>
                          </a:solidFill>
                        </a:rPr>
                        <a:t>Sales Manager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B2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2B2B"/>
                          </a:solidFill>
                        </a:rPr>
                        <a:t>1958-12-08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B2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2B2B"/>
                          </a:solidFill>
                        </a:rPr>
                        <a:t>Andrew Adams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B2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2B2B"/>
                          </a:solidFill>
                        </a:rPr>
                        <a:t>General Mgr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B2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2B2B"/>
                          </a:solidFill>
                        </a:rPr>
                        <a:t>1962-02-18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8" name="Google Shape;98;p5"/>
          <p:cNvSpPr/>
          <p:nvPr/>
        </p:nvSpPr>
        <p:spPr>
          <a:xfrm>
            <a:off x="4663440" y="274320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What I Learned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663440" y="3063240"/>
            <a:ext cx="42062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BETWEEN</a:t>
            </a:r>
            <a:r>
              <a:rPr b="0" i="0" lang="en-US" sz="1200" u="none" cap="none" strike="noStrike">
                <a:solidFill>
                  <a:srgbClr val="0D2B2B"/>
                </a:solidFill>
                <a:latin typeface="Calibri"/>
                <a:ea typeface="Calibri"/>
                <a:cs typeface="Calibri"/>
                <a:sym typeface="Calibri"/>
              </a:rPr>
              <a:t> works on ISO date strings (SQLite compares lexicographically)</a:t>
            </a:r>
            <a:br>
              <a:rPr b="0" i="0" lang="en-US" sz="1200" u="none" cap="none" strike="noStrike">
                <a:solidFill>
                  <a:srgbClr val="0D2B2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0D2B2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ORDER BY</a:t>
            </a:r>
            <a:r>
              <a:rPr b="0" i="0" lang="en-US" sz="1200" u="none" cap="none" strike="noStrike">
                <a:solidFill>
                  <a:srgbClr val="0D2B2B"/>
                </a:solidFill>
                <a:latin typeface="Calibri"/>
                <a:ea typeface="Calibri"/>
                <a:cs typeface="Calibri"/>
                <a:sym typeface="Calibri"/>
              </a:rPr>
              <a:t> can sort on a different column than the WHERE filter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B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2B2B"/>
                </a:solidFill>
                <a:latin typeface="Calibri"/>
                <a:ea typeface="Calibri"/>
                <a:cs typeface="Calibri"/>
                <a:sym typeface="Calibri"/>
              </a:rPr>
              <a:t>Both ends are inclusive — great for date range reports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AFA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2B"/>
          </a:solidFill>
          <a:ln cap="flat" cmpd="sng" w="12700">
            <a:solidFill>
              <a:srgbClr val="0D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Visualizing SQLite Data: Chart Types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57200" y="777377"/>
            <a:ext cx="8229600" cy="43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070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199" y="836812"/>
            <a:ext cx="5055550" cy="406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6"/>
          <p:cNvSpPr txBox="1"/>
          <p:nvPr/>
        </p:nvSpPr>
        <p:spPr>
          <a:xfrm>
            <a:off x="5789525" y="1619250"/>
            <a:ext cx="2360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D2B2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0D2B2B"/>
                </a:solidFill>
                <a:latin typeface="Calibri"/>
                <a:ea typeface="Calibri"/>
                <a:cs typeface="Calibri"/>
                <a:sym typeface="Calibri"/>
              </a:rPr>
              <a:t>Joining 8 tables: 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employees -&gt; customers -&gt; invoices -&gt; items -&gt; tracks -&gt; albums -&gt; artists -&gt; media_types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D2B2B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0D2B2B"/>
                </a:solidFill>
                <a:latin typeface="Calibri"/>
                <a:ea typeface="Calibri"/>
                <a:cs typeface="Calibri"/>
                <a:sym typeface="Calibri"/>
              </a:rPr>
              <a:t>Key insight: 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D2B2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0D2B2B"/>
                </a:solidFill>
                <a:latin typeface="Calibri"/>
                <a:ea typeface="Calibri"/>
                <a:cs typeface="Calibri"/>
                <a:sym typeface="Calibri"/>
              </a:rPr>
              <a:t>every JOIN needs a matching FK/PK — mapping these correctly was the hardest part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AFA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d8ec49f56_0_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2B"/>
          </a:solidFill>
          <a:ln cap="flat" cmpd="sng" w="12700">
            <a:solidFill>
              <a:srgbClr val="0D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dd8ec49f56_0_7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Visualizing SQLite Data: Chart Types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dd8ec49f56_0_7"/>
          <p:cNvSpPr/>
          <p:nvPr/>
        </p:nvSpPr>
        <p:spPr>
          <a:xfrm>
            <a:off x="457200" y="7772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07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B7070"/>
                </a:solidFill>
                <a:latin typeface="Calibri"/>
                <a:ea typeface="Calibri"/>
                <a:cs typeface="Calibri"/>
                <a:sym typeface="Calibri"/>
              </a:rPr>
              <a:t>Bar, Horizontal Bar &amp; Pie — all driven by SQL queries, rendered with matplotlib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lot_viz_methods1.png" id="118" name="Google Shape;118;g3dd8ec49f56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43000"/>
            <a:ext cx="8595358" cy="2743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dd8ec49f56_0_7"/>
          <p:cNvSpPr/>
          <p:nvPr/>
        </p:nvSpPr>
        <p:spPr>
          <a:xfrm>
            <a:off x="457200" y="3977640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SELECT + GROUP BY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dd8ec49f56_0_7"/>
          <p:cNvSpPr/>
          <p:nvPr/>
        </p:nvSpPr>
        <p:spPr>
          <a:xfrm>
            <a:off x="457200" y="4251960"/>
            <a:ext cx="2286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0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070"/>
                </a:solidFill>
                <a:latin typeface="Calibri"/>
                <a:ea typeface="Calibri"/>
                <a:cs typeface="Calibri"/>
                <a:sym typeface="Calibri"/>
              </a:rPr>
              <a:t>employee revenue summed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0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070"/>
                </a:solidFill>
                <a:latin typeface="Calibri"/>
                <a:ea typeface="Calibri"/>
                <a:cs typeface="Calibri"/>
                <a:sym typeface="Calibri"/>
              </a:rPr>
              <a:t>per rep with SUM()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dd8ec49f56_0_7"/>
          <p:cNvSpPr/>
          <p:nvPr/>
        </p:nvSpPr>
        <p:spPr>
          <a:xfrm>
            <a:off x="3429000" y="3977640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JOIN across 4 tables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dd8ec49f56_0_7"/>
          <p:cNvSpPr/>
          <p:nvPr/>
        </p:nvSpPr>
        <p:spPr>
          <a:xfrm>
            <a:off x="3429000" y="4251960"/>
            <a:ext cx="2286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0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070"/>
                </a:solidFill>
                <a:latin typeface="Calibri"/>
                <a:ea typeface="Calibri"/>
                <a:cs typeface="Calibri"/>
                <a:sym typeface="Calibri"/>
              </a:rPr>
              <a:t>tracks -&gt; albums -&gt; artists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0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070"/>
                </a:solidFill>
                <a:latin typeface="Calibri"/>
                <a:ea typeface="Calibri"/>
                <a:cs typeface="Calibri"/>
                <a:sym typeface="Calibri"/>
              </a:rPr>
              <a:t>to rank by revenue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dd8ec49f56_0_7"/>
          <p:cNvSpPr/>
          <p:nvPr/>
        </p:nvSpPr>
        <p:spPr>
          <a:xfrm>
            <a:off x="6400800" y="3977640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GROUP BY media type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dd8ec49f56_0_7"/>
          <p:cNvSpPr/>
          <p:nvPr/>
        </p:nvSpPr>
        <p:spPr>
          <a:xfrm>
            <a:off x="6400800" y="4251960"/>
            <a:ext cx="2286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0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070"/>
                </a:solidFill>
                <a:latin typeface="Calibri"/>
                <a:ea typeface="Calibri"/>
                <a:cs typeface="Calibri"/>
                <a:sym typeface="Calibri"/>
              </a:rPr>
              <a:t>COUNT or SUM per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0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070"/>
                </a:solidFill>
                <a:latin typeface="Calibri"/>
                <a:ea typeface="Calibri"/>
                <a:cs typeface="Calibri"/>
                <a:sym typeface="Calibri"/>
              </a:rPr>
              <a:t>media_type name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AFA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2B"/>
          </a:solidFill>
          <a:ln cap="flat" cmpd="sng" w="12700">
            <a:solidFill>
              <a:srgbClr val="0D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Visualizing SQLite Data: Two Display Methods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07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B7070"/>
                </a:solidFill>
                <a:latin typeface="Calibri"/>
                <a:ea typeface="Calibri"/>
                <a:cs typeface="Calibri"/>
                <a:sym typeface="Calibri"/>
              </a:rPr>
              <a:t>SQLite results can be shown as a DataFrame table OR as a matplotlib chart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320040" y="1143000"/>
            <a:ext cx="4206240" cy="2926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365760" y="1161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 pd.read_sql_query() — DataFrame Table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320040" y="1463040"/>
            <a:ext cx="4206240" cy="777240"/>
          </a:xfrm>
          <a:prstGeom prst="rect">
            <a:avLst/>
          </a:prstGeom>
          <a:solidFill>
            <a:srgbClr val="1E3A3A"/>
          </a:solidFill>
          <a:ln cap="flat" cmpd="sng" w="12700">
            <a:solidFill>
              <a:srgbClr val="1E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457200" y="1508760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df = pd.</a:t>
            </a:r>
            <a:r>
              <a:rPr b="0" i="0" lang="en-US" sz="100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read_sql_query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(query, db_con)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df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07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B7070"/>
                </a:solidFill>
                <a:latin typeface="Consolas"/>
                <a:ea typeface="Consolas"/>
                <a:cs typeface="Consolas"/>
                <a:sym typeface="Consolas"/>
              </a:rPr>
              <a:t># displays styled table in Colab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7" name="Google Shape;137;p7"/>
          <p:cNvGraphicFramePr/>
          <p:nvPr/>
        </p:nvGraphicFramePr>
        <p:xfrm>
          <a:off x="32004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{60463DED-4D88-4FF7-9713-6ECA5F901E6D}</a:tableStyleId>
              </a:tblPr>
              <a:tblGrid>
                <a:gridCol w="2560325"/>
                <a:gridCol w="164592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</a:rPr>
                        <a:t>EmployeeName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</a:rPr>
                        <a:t>TotalSales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B2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2B2B"/>
                          </a:solidFill>
                        </a:rPr>
                        <a:t>Jane Peacock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B2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2B2B"/>
                          </a:solidFill>
                        </a:rPr>
                        <a:t>$833.04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B2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2B2B"/>
                          </a:solidFill>
                        </a:rPr>
                        <a:t>Margaret Park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B2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2B2B"/>
                          </a:solidFill>
                        </a:rPr>
                        <a:t>$775.40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B2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2B2B"/>
                          </a:solidFill>
                        </a:rPr>
                        <a:t>Steve Johnson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B2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2B2B"/>
                          </a:solidFill>
                        </a:rPr>
                        <a:t>$720.16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8" name="Google Shape;138;p7"/>
          <p:cNvSpPr/>
          <p:nvPr/>
        </p:nvSpPr>
        <p:spPr>
          <a:xfrm>
            <a:off x="320040" y="36118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Best for: analysis, plotting, styled 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709160" y="1143000"/>
            <a:ext cx="4206240" cy="2926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4754880" y="1161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  %%script sqlite3 — CLI Output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709160" y="1463040"/>
            <a:ext cx="4206240" cy="777240"/>
          </a:xfrm>
          <a:prstGeom prst="rect">
            <a:avLst/>
          </a:prstGeom>
          <a:solidFill>
            <a:srgbClr val="1E3A3A"/>
          </a:solidFill>
          <a:ln cap="flat" cmpd="sng" w="12700">
            <a:solidFill>
              <a:srgbClr val="1E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4846320" y="1508760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%%script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sqlite3 --column --header chinook.db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0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firstname, sum(total) </a:t>
            </a:r>
            <a:r>
              <a:rPr b="1" i="0" lang="en-US" sz="10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...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709160" y="2286000"/>
            <a:ext cx="4206240" cy="1280160"/>
          </a:xfrm>
          <a:prstGeom prst="rect">
            <a:avLst/>
          </a:prstGeom>
          <a:solidFill>
            <a:srgbClr val="1E3A3A"/>
          </a:solidFill>
          <a:ln cap="flat" cmpd="sng" w="12700">
            <a:solidFill>
              <a:srgbClr val="1E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4846320" y="2331720"/>
            <a:ext cx="3931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FirstName   LastName   count</a:t>
            </a:r>
            <a:br>
              <a:rPr b="0" i="0" lang="en-US" sz="1000" u="none" cap="none" strike="noStrike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5B7070"/>
                </a:solidFill>
                <a:latin typeface="Consolas"/>
                <a:ea typeface="Consolas"/>
                <a:cs typeface="Consolas"/>
                <a:sym typeface="Consolas"/>
              </a:rPr>
              <a:t>----------  --------   -----</a:t>
            </a:r>
            <a:br>
              <a:rPr b="0" i="0" lang="en-US" sz="1000" u="none" cap="none" strike="noStrike">
                <a:solidFill>
                  <a:srgbClr val="5B707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Jane        Peacock    21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Margaret    Park       20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Steve       Johnson    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709160" y="36118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Best for: quick checks, readable raw 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Key difference: </a:t>
            </a:r>
            <a:r>
              <a:rPr b="1" i="0" lang="en-US" sz="1150" u="none" cap="none" strike="noStrike">
                <a:solidFill>
                  <a:srgbClr val="0D2B2B"/>
                </a:solidFill>
                <a:latin typeface="Calibri"/>
                <a:ea typeface="Calibri"/>
                <a:cs typeface="Calibri"/>
                <a:sym typeface="Calibri"/>
              </a:rPr>
              <a:t>pd.read_sql_query()</a:t>
            </a:r>
            <a:r>
              <a:rPr b="0" i="0" lang="en-US" sz="1150" u="none" cap="none" strike="noStrike">
                <a:solidFill>
                  <a:srgbClr val="0D2B2B"/>
                </a:solidFill>
                <a:latin typeface="Calibri"/>
                <a:ea typeface="Calibri"/>
                <a:cs typeface="Calibri"/>
                <a:sym typeface="Calibri"/>
              </a:rPr>
              <a:t> returns a plottable DataFrame;  </a:t>
            </a:r>
            <a:r>
              <a:rPr b="1" i="0" lang="en-US" sz="1150" u="none" cap="none" strike="noStrike">
                <a:solidFill>
                  <a:srgbClr val="0D2B2B"/>
                </a:solidFill>
                <a:latin typeface="Calibri"/>
                <a:ea typeface="Calibri"/>
                <a:cs typeface="Calibri"/>
                <a:sym typeface="Calibri"/>
              </a:rPr>
              <a:t>%%script sqlite3</a:t>
            </a:r>
            <a:r>
              <a:rPr b="0" i="0" lang="en-US" sz="1150" u="none" cap="none" strike="noStrike">
                <a:solidFill>
                  <a:srgbClr val="0D2B2B"/>
                </a:solidFill>
                <a:latin typeface="Calibri"/>
                <a:ea typeface="Calibri"/>
                <a:cs typeface="Calibri"/>
                <a:sym typeface="Calibri"/>
              </a:rPr>
              <a:t> prints columnar CLI text — can't be charted directly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AFA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2B"/>
          </a:solidFill>
          <a:ln cap="flat" cmpd="sng" w="12700">
            <a:solidFill>
              <a:srgbClr val="0D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365760" y="7772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Common Table Expression (CTE)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365760" y="1097280"/>
            <a:ext cx="4114800" cy="2103120"/>
          </a:xfrm>
          <a:prstGeom prst="rect">
            <a:avLst/>
          </a:prstGeom>
          <a:solidFill>
            <a:srgbClr val="1E3A3A"/>
          </a:solidFill>
          <a:ln cap="flat" cmpd="sng" w="12700">
            <a:solidFill>
              <a:srgbClr val="1E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502920" y="1170432"/>
            <a:ext cx="384048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50"/>
              <a:buFont typeface="Consolas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4663440" y="77724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4663440" y="251460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What I Learned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663440" y="2880360"/>
            <a:ext cx="42062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B2B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50" y="1097275"/>
            <a:ext cx="7859900" cy="217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B2B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/>
          <p:nvPr/>
        </p:nvSpPr>
        <p:spPr>
          <a:xfrm>
            <a:off x="-914400" y="2286000"/>
            <a:ext cx="3657600" cy="3657600"/>
          </a:xfrm>
          <a:prstGeom prst="ellipse">
            <a:avLst/>
          </a:prstGeom>
          <a:solidFill>
            <a:srgbClr val="0D9488">
              <a:alpha val="14901"/>
            </a:srgbClr>
          </a:solidFill>
          <a:ln cap="flat" cmpd="sng" w="12700">
            <a:solidFill>
              <a:srgbClr val="0D9488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640080" y="1143000"/>
            <a:ext cx="1828800" cy="457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502920" y="1444752"/>
            <a:ext cx="411480" cy="41148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502920" y="144475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1051560" y="1444752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SQLite3 in Colab  —  Install via apt-get, connect with Python's sqlite3 module — two ways to query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502920" y="2157984"/>
            <a:ext cx="411480" cy="41148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502920" y="215798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1051560" y="2157984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GROUP BY + JOIN  —  COUNT and SUM are meaningless without a GROUP BY dimension across joined tables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502920" y="2871216"/>
            <a:ext cx="411480" cy="41148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502920" y="287121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1051560" y="2871216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BETWEEN on dates  —  ISO date strings compare lexicographically — inclusive filtering made easy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502920" y="3584448"/>
            <a:ext cx="411480" cy="41148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502920" y="358444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1051560" y="3584448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Multiple viz methods  —  %%script for quick CLI output; pd.read_sql_query for plottable DataFrames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502920" y="4297680"/>
            <a:ext cx="411480" cy="41148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502920" y="42976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1051560" y="429768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CTEs + multi-JOIN  —  Chaining 8 tables is possible — CTEs keep the logic readable and debuggable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2026-05-05T22:11:30Z</dcterms:created>
  <dc:creator>PptxGenJS</dc:creator>
</cp:coreProperties>
</file>