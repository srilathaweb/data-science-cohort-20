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r0DmbNcXwr76j/jaRadfRd7yI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53B8A"/>
          </a:solidFill>
          <a:ln cap="flat" cmpd="sng" w="12700">
            <a:solidFill>
              <a:srgbClr val="253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223760" y="-457200"/>
            <a:ext cx="2743200" cy="2743200"/>
          </a:xfrm>
          <a:prstGeom prst="ellipse">
            <a:avLst/>
          </a:prstGeom>
          <a:solidFill>
            <a:srgbClr val="2E4AA3"/>
          </a:solidFill>
          <a:ln cap="flat" cmpd="sng" w="12700">
            <a:solidFill>
              <a:srgbClr val="2E4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11480" y="640080"/>
            <a:ext cx="7498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DBpedia People Similarity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Wikipedia Sentiment Analysis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11480" y="30632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NLP Project  —  Parts 1, 2 &amp;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356616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D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5B4D0"/>
                </a:solidFill>
                <a:latin typeface="Calibri"/>
                <a:ea typeface="Calibri"/>
                <a:cs typeface="Calibri"/>
                <a:sym typeface="Calibri"/>
              </a:rPr>
              <a:t>TF-IDF  ·  Cosine Similarity  ·  Wikipedia API  ·  VADER Sentiment  ·  Interactive Widgets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46634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2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2AA"/>
                </a:solidFill>
                <a:latin typeface="Calibri"/>
                <a:ea typeface="Calibri"/>
                <a:cs typeface="Calibri"/>
                <a:sym typeface="Calibri"/>
              </a:rPr>
              <a:t>DBpedia Dataset  |  Python / Colab  |  2025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" name="Google Shape;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0" y="416052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2480" y="416052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5280" y="461772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12480" y="4617720"/>
            <a:ext cx="384048" cy="384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56032" y="914400"/>
            <a:ext cx="27432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256032" y="914400"/>
            <a:ext cx="2743200" cy="5943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05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822960" y="98755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1591056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DBpedia Nearest Neighbors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2029968"/>
            <a:ext cx="2523744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TF-IDF embeddings from DBpedia abstracts. Pick a reference person and find their 10 most similar neighbors using cosine similarity.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136392" y="914400"/>
            <a:ext cx="27432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136392" y="914400"/>
            <a:ext cx="2743200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120" y="1005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3703320" y="98755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246120" y="1591056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Wikipedia Deep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246120" y="2029968"/>
            <a:ext cx="2523744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Fetch full Wikipedia pages, run VADER sentiment, re-rank neighbors by Wikipedia similarity, and compare both rankings visually.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016752" y="914400"/>
            <a:ext cx="27432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016752" y="914400"/>
            <a:ext cx="2743200" cy="59436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0" y="1005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6583680" y="98755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126480" y="1591056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Interactive Widget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126480" y="2029968"/>
            <a:ext cx="2523744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Enter any name from the DBpedia set and instantly display the 10 most similar people — with charts and optional Wikipedia re-ranking.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 —  DBpedia CSV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309360" y="877824"/>
            <a:ext cx="2606040" cy="4005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088" y="10058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6839712" y="10058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Dataset Details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419088" y="150876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Columns: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19088" y="17465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URI · name · 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19088" y="213055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Content: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19088" y="236829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Biographical abstracts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19088" y="275234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19088" y="299008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Sophie Crumb,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Jonathan Hoefler,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Digby Morrell…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419088" y="337413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19088" y="361188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CSV, UTF-8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19088" y="39959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19088" y="423367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DBpedia knowledge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100" y="932700"/>
            <a:ext cx="5962025" cy="248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  —  TF-IDF Nearest Neighbors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56032" y="4087368"/>
            <a:ext cx="649224" cy="25603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256032" y="4087368"/>
            <a:ext cx="649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147567" y="4059911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TF-IDF vectorizer + cosine similarity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681728" y="4087368"/>
            <a:ext cx="859536" cy="2560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681728" y="4087368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788313" y="4096524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 10 DBpedia neighbors — cosine similarity bar chart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6550" y="877825"/>
            <a:ext cx="4605999" cy="247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3550" y="3521375"/>
            <a:ext cx="26289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750" y="840408"/>
            <a:ext cx="2859625" cy="153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" y="2466975"/>
            <a:ext cx="4340350" cy="25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2A  —  Wikipedia Fetch &amp; VADER Sentiment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256032" y="4087368"/>
            <a:ext cx="649224" cy="25603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256032" y="4087368"/>
            <a:ext cx="649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087467" y="4078236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wikipedia-api fetch + VADER sentence-level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681728" y="4087368"/>
            <a:ext cx="859536" cy="2560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681728" y="4087368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56032" y="4434840"/>
            <a:ext cx="8631936" cy="502920"/>
          </a:xfrm>
          <a:prstGeom prst="rect">
            <a:avLst/>
          </a:prstGeom>
          <a:solidFill>
            <a:srgbClr val="EEF3FF"/>
          </a:solidFill>
          <a:ln cap="flat" cmpd="sng" w="12700">
            <a:solidFill>
              <a:srgbClr val="C8D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84048" y="44348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💡  Compound: +0.082 (POSITIVE)  |  Neutral: 82.1%  |  Positive: 14.2%  |  Negative: 3.7%  |  Sentences analyzed: 80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484" y="905250"/>
            <a:ext cx="4177540" cy="22808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20"/>
              </a:srgbClr>
            </a:outerShdw>
          </a:effectLst>
        </p:spPr>
      </p:pic>
      <p:pic>
        <p:nvPicPr>
          <p:cNvPr id="105" name="Google Shape;10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00" y="905250"/>
            <a:ext cx="4623426" cy="28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2B  —  Wikipedia Re-Ranking Comparison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56032" y="877824"/>
            <a:ext cx="8631936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256032" y="4462272"/>
            <a:ext cx="8631936" cy="475488"/>
          </a:xfrm>
          <a:prstGeom prst="rect">
            <a:avLst/>
          </a:prstGeom>
          <a:solidFill>
            <a:srgbClr val="EEF3FF"/>
          </a:solidFill>
          <a:ln cap="flat" cmpd="sng" w="12700">
            <a:solidFill>
              <a:srgbClr val="C8D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Left: rank positions side-by-side  ·  Centre: signed rank shift (green = moved up in Wikipedia)  ·  Right: similarity scatter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75" y="1046751"/>
            <a:ext cx="8545700" cy="296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  —  Interactive Widget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56032" y="4087368"/>
            <a:ext cx="649224" cy="25603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56032" y="4087368"/>
            <a:ext cx="649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681728" y="877824"/>
            <a:ext cx="4224528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828032" y="96926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Widget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828032" y="1517904"/>
            <a:ext cx="347472" cy="34747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3752" y="15636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5248656" y="148132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Smart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248656" y="1728216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Autocomplete combobox with all DBpedia names. Supports partial match.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828032" y="2176272"/>
            <a:ext cx="347472" cy="347472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3752" y="22219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5248656" y="213969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Top N Slider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248656" y="238658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Choose 3–20 neighbors; charts update instantly.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828032" y="2834640"/>
            <a:ext cx="347472" cy="347472"/>
          </a:xfrm>
          <a:prstGeom prst="ellipse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3752" y="28803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5248656" y="279806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Instant Bar Chart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248656" y="304495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Horizontal bar chart of cosine similarity rendered per search.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828032" y="3493008"/>
            <a:ext cx="347472" cy="347472"/>
          </a:xfrm>
          <a:prstGeom prst="ellipse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3752" y="35387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5248656" y="34564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Optional Wiki Rank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248656" y="370332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Checkbox triggers Wikipedia re-ranking (~30s extra).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681728" y="4087368"/>
            <a:ext cx="1175004" cy="256032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4681728" y="4087368"/>
            <a:ext cx="11750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WIDGET 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444" y="1120900"/>
            <a:ext cx="4740576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 &amp; Observations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256032" y="914400"/>
            <a:ext cx="8631936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256032" y="914400"/>
            <a:ext cx="658368" cy="87782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256032" y="914400"/>
            <a:ext cx="65836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005840" y="987552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DBpedia ≈ Wikipedia Rankings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931920" y="969264"/>
            <a:ext cx="47548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Top 3–4 neighbors remain stable across both methods. Short DBpedia abstracts capture the same core biographical profile that Wikipedia expands on at length.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56032" y="1901952"/>
            <a:ext cx="8631936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56032" y="1901952"/>
            <a:ext cx="658368" cy="877824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256032" y="1901952"/>
            <a:ext cx="65836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005840" y="1975104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Re-ranking Shifts the Mid-tier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931920" y="1956816"/>
            <a:ext cx="47548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Neighbors ranked 5–8 frequently swap positions. Wikipedia's richer text reveals deeper topical overlap that isn't visible in short abstracts.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256032" y="2889504"/>
            <a:ext cx="8631936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256032" y="2889504"/>
            <a:ext cx="658368" cy="877824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256032" y="2889504"/>
            <a:ext cx="65836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05840" y="2962656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Predominantly Neutral Sentiment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931920" y="2944368"/>
            <a:ext cx="47548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Wikipedia articles score 0.75–0.85 neutral on average. Positive compound scores (+0.1 to +0.4) are common for accomplished public figures.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256032" y="3877056"/>
            <a:ext cx="8631936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256032" y="3877056"/>
            <a:ext cx="658368" cy="877824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256032" y="3877056"/>
            <a:ext cx="65836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05840" y="3950208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Missing Pages Affect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931920" y="3931920"/>
            <a:ext cx="47548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~15% of DBpedia names lacked a direct Wikipedia match. The search-API fallback recovers most cases, but gaps lower re-ranking confidence.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253B8A"/>
          </a:solidFill>
          <a:ln cap="flat" cmpd="sng" w="12700">
            <a:solidFill>
              <a:srgbClr val="253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-1371600" y="-1097280"/>
            <a:ext cx="3200400" cy="3200400"/>
          </a:xfrm>
          <a:prstGeom prst="ellipse">
            <a:avLst/>
          </a:prstGeom>
          <a:solidFill>
            <a:srgbClr val="253B8A"/>
          </a:solidFill>
          <a:ln cap="flat" cmpd="sng" w="12700">
            <a:solidFill>
              <a:srgbClr val="253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11480" y="36576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11480" y="1261872"/>
            <a:ext cx="6217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3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TF-IDF + Cosine Similarity is a strong baseline for biographical similarity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11480" y="1792224"/>
            <a:ext cx="6217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3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Wikipedia provides richer context — mid-tier rankings meaningfully shift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11480" y="2322576"/>
            <a:ext cx="6217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3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VADER captures the factual, neutral tone of encyclopedia writing well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11480" y="2852928"/>
            <a:ext cx="6217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3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The interactive widget enables real-time exploration of any DBpedia person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11480" y="4526280"/>
            <a:ext cx="1828800" cy="4572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411480" y="4526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TF-IDF Similarity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2404872" y="4526280"/>
            <a:ext cx="1828800" cy="4572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2404872" y="4526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Wikipedia + Sentiment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398264" y="4526280"/>
            <a:ext cx="1828800" cy="4572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398264" y="4526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Widget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11480" y="48006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2A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2AA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2026-05-29T15:53:55Z</dcterms:created>
  <dc:creator>PptxGenJS</dc:creator>
</cp:coreProperties>
</file>